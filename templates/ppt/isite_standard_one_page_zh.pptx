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063f4dd40c4f4a" /><Relationship Type="http://schemas.openxmlformats.org/officeDocument/2006/relationships/extended-properties" Target="/docProps/app.xml" Id="R0d6327f69ae04c42" /><Relationship Type="http://schemas.openxmlformats.org/officeDocument/2006/relationships/officeDocument" Target="/ppt/presentation.xml" Id="R6ecd70f465be47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f135a5b54a4caf"/>
  </p:sldMasterIdLst>
  <p:notesMasterIdLst>
    <p:notesMasterId xmlns:r="http://schemas.openxmlformats.org/officeDocument/2006/relationships" r:id="R8048f1b5a4584da4"/>
  </p:notesMasterIdLst>
  <p:sldIdLst>
    <p:sldId xmlns:r="http://schemas.openxmlformats.org/officeDocument/2006/relationships" id="256" r:id="Rf9a1ff072434420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838e2c102e42ae" /><Relationship Type="http://schemas.openxmlformats.org/officeDocument/2006/relationships/slideMaster" Target="/ppt/slideMasters/slideMaster1.xml" Id="R73f135a5b54a4caf" /><Relationship Type="http://schemas.openxmlformats.org/officeDocument/2006/relationships/notesMaster" Target="/ppt/notesMasters/notesMaster1.xml" Id="R8048f1b5a4584da4" /><Relationship Type="http://schemas.openxmlformats.org/officeDocument/2006/relationships/presProps" Target="/ppt/presProps.xml" Id="Rbfadd79b06f149e1" /><Relationship Type="http://schemas.openxmlformats.org/officeDocument/2006/relationships/tableStyles" Target="/ppt/tableStyles.xml" Id="Rcc418d0ded1a474a" /><Relationship Type="http://schemas.openxmlformats.org/officeDocument/2006/relationships/slide" Target="/ppt/slides/slide1.xml" Id="Rf9a1ff07243442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a762decf2945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a4c15817a84ccd" /><Relationship Type="http://schemas.openxmlformats.org/officeDocument/2006/relationships/notesMaster" Target="/ppt/notesMasters/notesMaster1.xml" Id="R967c371625c94c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1359014b544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23bb0712584c7f" /><Relationship Type="http://schemas.openxmlformats.org/officeDocument/2006/relationships/slideLayout" Target="/ppt/slideLayouts/slideLayout1.xml" Id="Reaa19b4deec64f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a19b4deec64f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a2d29834a461d" /><Relationship Type="http://schemas.openxmlformats.org/officeDocument/2006/relationships/image" Target="/ppt/media/image.jpeg" Id="Rda2cc2dfcacb4232" /><Relationship Type="http://schemas.openxmlformats.org/officeDocument/2006/relationships/image" Target="/ppt/media/image2.jpeg" Id="R56ed39e2c0dd4f4f" /><Relationship Type="http://schemas.openxmlformats.org/officeDocument/2006/relationships/image" Target="/ppt/media/image3.jpeg" Id="Rbc4827cbfd61421d" /><Relationship Type="http://schemas.openxmlformats.org/officeDocument/2006/relationships/image" Target="/ppt/media/image4.jpeg" Id="R61ec816751d648f3" /><Relationship Type="http://schemas.openxmlformats.org/officeDocument/2006/relationships/image" Target="/ppt/media/image5.jpeg" Id="R6cf6ee09d2744479" /><Relationship Type="http://schemas.openxmlformats.org/officeDocument/2006/relationships/image" Target="/ppt/media/image6.jpeg" Id="Rf6efac60430c48bb" /><Relationship Type="http://schemas.openxmlformats.org/officeDocument/2006/relationships/image" Target="/ppt/media/image.png" Id="R5b0c01590a6b43b6" /><Relationship Type="http://schemas.openxmlformats.org/officeDocument/2006/relationships/image" Target="/ppt/media/image7.jpeg" Id="R463cfd668d2344ba" /><Relationship Type="http://schemas.openxmlformats.org/officeDocument/2006/relationships/image" Target="/ppt/media/image8.jpeg" Id="R494f5bfe97564c2c" /><Relationship Type="http://schemas.openxmlformats.org/officeDocument/2006/relationships/notesSlide" Target="/ppt/notesSlides/notesSlide1.xml" Id="Rf5aacb38028345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lag-red">
            <a:extLst xmlns:a="http://schemas.openxmlformats.org/drawingml/2006/main">
              <a:ext uri="{FF2B5EF4-FFF2-40B4-BE49-F238E27FC236}">
                <a16:creationId xmlns:a16="http://schemas.microsoft.com/office/drawing/2014/main" id="{81E6E8AB-946B-431B-B407-41DB726B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1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lag-gold">
            <a:extLst xmlns:a="http://schemas.openxmlformats.org/drawingml/2006/main">
              <a:ext uri="{FF2B5EF4-FFF2-40B4-BE49-F238E27FC236}">
                <a16:creationId xmlns:a16="http://schemas.microsoft.com/office/drawing/2014/main" id="{30DF61E7-29F1-4402-8E02-17E459E1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"/>
            <a:ext cx="266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D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lag-green">
            <a:extLst xmlns:a="http://schemas.openxmlformats.org/drawingml/2006/main">
              <a:ext uri="{FF2B5EF4-FFF2-40B4-BE49-F238E27FC236}">
                <a16:creationId xmlns:a16="http://schemas.microsoft.com/office/drawing/2014/main" id="{339F0950-7E7E-4F9F-B345-4F9B679D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"/>
            <a:ext cx="266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lag-star">
            <a:extLst xmlns:a="http://schemas.openxmlformats.org/drawingml/2006/main">
              <a:ext uri="{FF2B5EF4-FFF2-40B4-BE49-F238E27FC236}">
                <a16:creationId xmlns:a16="http://schemas.microsoft.com/office/drawing/2014/main" id="{703044A0-A002-4859-947C-36BB012B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342900"/>
            <a:ext cx="247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D1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*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C8E5E28-399B-475E-B13F-A91904B9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61912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加纳高价值楼宇洞察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1CDF07BA-4765-40CA-B2BF-E988C798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81 个合格候选  ·  15 个门槛推荐  ·  9 类场景</a:t>
            </a:r>
          </a:p>
        </p:txBody>
      </p:sp>
      <p:sp>
        <p:nvSpPr>
          <p:cNvPr id="7" name="insight-rule">
            <a:extLst xmlns:a="http://schemas.openxmlformats.org/drawingml/2006/main">
              <a:ext uri="{FF2B5EF4-FFF2-40B4-BE49-F238E27FC236}">
                <a16:creationId xmlns:a16="http://schemas.microsoft.com/office/drawing/2014/main" id="{FCAC3B0B-643B-4BCD-9D5E-4F821329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7175"/>
            <a:ext cx="38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sight-label">
            <a:extLst xmlns:a="http://schemas.openxmlformats.org/drawingml/2006/main">
              <a:ext uri="{FF2B5EF4-FFF2-40B4-BE49-F238E27FC236}">
                <a16:creationId xmlns:a16="http://schemas.microsoft.com/office/drawing/2014/main" id="{3C1163C4-6997-4735-A560-B7A82E34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推荐集中</a:t>
            </a:r>
          </a:p>
        </p:txBody>
      </p:sp>
      <p:sp>
        <p:nvSpPr>
          <p:cNvPr id="9" name="insight-distribution">
            <a:extLst xmlns:a="http://schemas.openxmlformats.org/drawingml/2006/main">
              <a:ext uri="{FF2B5EF4-FFF2-40B4-BE49-F238E27FC236}">
                <a16:creationId xmlns:a16="http://schemas.microsoft.com/office/drawing/2014/main" id="{84F14C91-ED74-4A28-A8B3-549850B3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86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大学 4  ·  医院 8  ·  体育场 2  ·  机场 1</a:t>
            </a:r>
          </a:p>
        </p:txBody>
      </p:sp>
      <p:sp>
        <p:nvSpPr>
          <p:cNvPr id="10" name="insight-audit">
            <a:extLst xmlns:a="http://schemas.openxmlformats.org/drawingml/2006/main">
              <a:ext uri="{FF2B5EF4-FFF2-40B4-BE49-F238E27FC236}">
                <a16:creationId xmlns:a16="http://schemas.microsoft.com/office/drawing/2014/main" id="{F442B45B-0A88-403E-82E7-EEA10061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704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6B3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06B3F"/>
                </a:solidFill>
                <a:latin typeface="PingFang SC"/>
                <a:ea typeface="PingFang SC"/>
                <a:cs typeface="PingFang SC"/>
              </a:rPr>
              <a:t>场景硬主指标门槛驱动推荐</a:t>
            </a:r>
          </a:p>
        </p:txBody>
      </p:sp>
      <p:sp>
        <p:nvSpPr>
          <p:cNvPr id="11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21CCFD1-B989-40C8-AED1-2FFFADA2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cess-arrow-1">
            <a:extLst xmlns:a="http://schemas.openxmlformats.org/drawingml/2006/main">
              <a:ext uri="{FF2B5EF4-FFF2-40B4-BE49-F238E27FC236}">
                <a16:creationId xmlns:a16="http://schemas.microsoft.com/office/drawing/2014/main" id="{2DB568AF-479F-4537-98EA-8D773527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143000"/>
            <a:ext cx="304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A3A3A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A3A3A3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3" name="process-arrow-2">
            <a:extLst xmlns:a="http://schemas.openxmlformats.org/drawingml/2006/main">
              <a:ext uri="{FF2B5EF4-FFF2-40B4-BE49-F238E27FC236}">
                <a16:creationId xmlns:a16="http://schemas.microsoft.com/office/drawing/2014/main" id="{5D936DAA-6662-476E-A69F-A1749A5F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143000"/>
            <a:ext cx="304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A3A3A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A3A3A3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4" name="process-arrow-3">
            <a:extLst xmlns:a="http://schemas.openxmlformats.org/drawingml/2006/main">
              <a:ext uri="{FF2B5EF4-FFF2-40B4-BE49-F238E27FC236}">
                <a16:creationId xmlns:a16="http://schemas.microsoft.com/office/drawing/2014/main" id="{47944D30-0BF2-41B1-909B-07C85DBE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143000"/>
            <a:ext cx="304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A3A3A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A3A3A3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5" name="process-number-bg-1">
            <a:extLst xmlns:a="http://schemas.openxmlformats.org/drawingml/2006/main">
              <a:ext uri="{FF2B5EF4-FFF2-40B4-BE49-F238E27FC236}">
                <a16:creationId xmlns:a16="http://schemas.microsoft.com/office/drawing/2014/main" id="{ED558DF2-2E10-46FC-8E1A-73D6595E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E1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cess-number-1">
            <a:extLst xmlns:a="http://schemas.openxmlformats.org/drawingml/2006/main">
              <a:ext uri="{FF2B5EF4-FFF2-40B4-BE49-F238E27FC236}">
                <a16:creationId xmlns:a16="http://schemas.microsoft.com/office/drawing/2014/main" id="{FD421DF7-C325-4D95-8EBA-4FCA2A74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219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11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7" name="process-label-1">
            <a:extLst xmlns:a="http://schemas.openxmlformats.org/drawingml/2006/main">
              <a:ext uri="{FF2B5EF4-FFF2-40B4-BE49-F238E27FC236}">
                <a16:creationId xmlns:a16="http://schemas.microsoft.com/office/drawing/2014/main" id="{F70F3CC1-2A82-45AA-AB07-709A092C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71575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目录线索</a:t>
            </a:r>
          </a:p>
        </p:txBody>
      </p:sp>
      <p:sp>
        <p:nvSpPr>
          <p:cNvPr id="18" name="process-number-bg-2">
            <a:extLst xmlns:a="http://schemas.openxmlformats.org/drawingml/2006/main">
              <a:ext uri="{FF2B5EF4-FFF2-40B4-BE49-F238E27FC236}">
                <a16:creationId xmlns:a16="http://schemas.microsoft.com/office/drawing/2014/main" id="{BD36E7BD-3F6F-428D-9EE6-DBA556AE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17157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rocess-number-2">
            <a:extLst xmlns:a="http://schemas.openxmlformats.org/drawingml/2006/main">
              <a:ext uri="{FF2B5EF4-FFF2-40B4-BE49-F238E27FC236}">
                <a16:creationId xmlns:a16="http://schemas.microsoft.com/office/drawing/2014/main" id="{A8AAE5A8-E2D1-4B00-A2D0-AD62CECF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219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0" name="process-label-2">
            <a:extLst xmlns:a="http://schemas.openxmlformats.org/drawingml/2006/main">
              <a:ext uri="{FF2B5EF4-FFF2-40B4-BE49-F238E27FC236}">
                <a16:creationId xmlns:a16="http://schemas.microsoft.com/office/drawing/2014/main" id="{2524BE98-9AF5-4D21-A550-E08BCF03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171575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地理与主指标</a:t>
            </a:r>
          </a:p>
        </p:txBody>
      </p:sp>
      <p:sp>
        <p:nvSpPr>
          <p:cNvPr id="21" name="process-number-bg-3">
            <a:extLst xmlns:a="http://schemas.openxmlformats.org/drawingml/2006/main">
              <a:ext uri="{FF2B5EF4-FFF2-40B4-BE49-F238E27FC236}">
                <a16:creationId xmlns:a16="http://schemas.microsoft.com/office/drawing/2014/main" id="{A01B891F-D394-40B3-9E37-57329DA0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17157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rocess-number-3">
            <a:extLst xmlns:a="http://schemas.openxmlformats.org/drawingml/2006/main">
              <a:ext uri="{FF2B5EF4-FFF2-40B4-BE49-F238E27FC236}">
                <a16:creationId xmlns:a16="http://schemas.microsoft.com/office/drawing/2014/main" id="{13735E60-344F-40E3-B89A-79EA80F8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219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3" name="process-label-3">
            <a:extLst xmlns:a="http://schemas.openxmlformats.org/drawingml/2006/main">
              <a:ext uri="{FF2B5EF4-FFF2-40B4-BE49-F238E27FC236}">
                <a16:creationId xmlns:a16="http://schemas.microsoft.com/office/drawing/2014/main" id="{02D85AD2-A585-4495-B2F8-2B4B3EB9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171575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Proxy价值估算</a:t>
            </a:r>
          </a:p>
        </p:txBody>
      </p:sp>
      <p:sp>
        <p:nvSpPr>
          <p:cNvPr id="24" name="process-number-bg-4">
            <a:extLst xmlns:a="http://schemas.openxmlformats.org/drawingml/2006/main">
              <a:ext uri="{FF2B5EF4-FFF2-40B4-BE49-F238E27FC236}">
                <a16:creationId xmlns:a16="http://schemas.microsoft.com/office/drawing/2014/main" id="{CBF1739C-D792-4248-A5E5-8D74BC10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71575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rocess-number-4">
            <a:extLst xmlns:a="http://schemas.openxmlformats.org/drawingml/2006/main">
              <a:ext uri="{FF2B5EF4-FFF2-40B4-BE49-F238E27FC236}">
                <a16:creationId xmlns:a16="http://schemas.microsoft.com/office/drawing/2014/main" id="{28A2A5CD-68CE-4585-8F3D-FFE02195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2192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6" name="process-label-4">
            <a:extLst xmlns:a="http://schemas.openxmlformats.org/drawingml/2006/main">
              <a:ext uri="{FF2B5EF4-FFF2-40B4-BE49-F238E27FC236}">
                <a16:creationId xmlns:a16="http://schemas.microsoft.com/office/drawing/2014/main" id="{D549103A-D1EF-4AA2-B480-BC389F47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171575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质量门</a:t>
            </a:r>
          </a:p>
        </p:txBody>
      </p:sp>
      <p:sp>
        <p:nvSpPr>
          <p:cNvPr id="27" name="process-rule">
            <a:extLst xmlns:a="http://schemas.openxmlformats.org/drawingml/2006/main">
              <a:ext uri="{FF2B5EF4-FFF2-40B4-BE49-F238E27FC236}">
                <a16:creationId xmlns:a16="http://schemas.microsoft.com/office/drawing/2014/main" id="{2EA01DD5-0141-4614-9E9C-659F2D49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ard-01">
            <a:extLst xmlns:a="http://schemas.openxmlformats.org/drawingml/2006/main">
              <a:ext uri="{FF2B5EF4-FFF2-40B4-BE49-F238E27FC236}">
                <a16:creationId xmlns:a16="http://schemas.microsoft.com/office/drawing/2014/main" id="{6EF8EA19-47E5-4DE5-AB8D-69D75F5E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52600"/>
            <a:ext cx="2232660" cy="2286000"/>
          </a:xfrm>
          <a:prstGeom xmlns:a="http://schemas.openxmlformats.org/drawingml/2006/main" prst="roundRect">
            <a:avLst>
              <a:gd name="adj" fmla="val 12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cc2dfcacb4232"/>
          <a:srcRect xmlns:a="http://schemas.openxmlformats.org/drawingml/2006/main" l="0" t="15491" r="0" b="154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" y="1752600"/>
            <a:ext cx="2232660" cy="866775"/>
          </a:xfrm>
          <a:prstGeom xmlns:a="http://schemas.openxmlformats.org/drawingml/2006/main" prst="rect">
            <a:avLst/>
          </a:prstGeom>
        </p:spPr>
      </p:pic>
      <p:sp>
        <p:nvSpPr>
          <p:cNvPr id="30" name="index-bg-01">
            <a:extLst xmlns:a="http://schemas.openxmlformats.org/drawingml/2006/main">
              <a:ext uri="{FF2B5EF4-FFF2-40B4-BE49-F238E27FC236}">
                <a16:creationId xmlns:a16="http://schemas.microsoft.com/office/drawing/2014/main" id="{4B731ECA-121A-453A-9399-AA4F314B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526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1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index-01">
            <a:extLst xmlns:a="http://schemas.openxmlformats.org/drawingml/2006/main">
              <a:ext uri="{FF2B5EF4-FFF2-40B4-BE49-F238E27FC236}">
                <a16:creationId xmlns:a16="http://schemas.microsoft.com/office/drawing/2014/main" id="{13741466-C272-494D-9F6C-68310F50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526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11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2" name="scene-01">
            <a:extLst xmlns:a="http://schemas.openxmlformats.org/drawingml/2006/main">
              <a:ext uri="{FF2B5EF4-FFF2-40B4-BE49-F238E27FC236}">
                <a16:creationId xmlns:a16="http://schemas.microsoft.com/office/drawing/2014/main" id="{44AE0C74-0B4F-4465-9456-84BF8087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76525"/>
            <a:ext cx="918972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E112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E1126"/>
                </a:solidFill>
                <a:latin typeface="PingFang SC"/>
                <a:ea typeface="PingFang SC"/>
                <a:cs typeface="PingFang SC"/>
              </a:rPr>
              <a:t>机场</a:t>
            </a:r>
          </a:p>
        </p:txBody>
      </p:sp>
      <p:sp>
        <p:nvSpPr>
          <p:cNvPr id="33" name="counts-01">
            <a:extLst xmlns:a="http://schemas.openxmlformats.org/drawingml/2006/main">
              <a:ext uri="{FF2B5EF4-FFF2-40B4-BE49-F238E27FC236}">
                <a16:creationId xmlns:a16="http://schemas.microsoft.com/office/drawing/2014/main" id="{1C0A2BDF-71AF-47B9-AE1F-96903031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229" y="2676525"/>
            <a:ext cx="1164031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候选 5  ·  推荐 1</a:t>
            </a:r>
          </a:p>
        </p:txBody>
      </p:sp>
      <p:sp>
        <p:nvSpPr>
          <p:cNvPr id="34" name="name-01">
            <a:extLst xmlns:a="http://schemas.openxmlformats.org/drawingml/2006/main">
              <a:ext uri="{FF2B5EF4-FFF2-40B4-BE49-F238E27FC236}">
                <a16:creationId xmlns:a16="http://schemas.microsoft.com/office/drawing/2014/main" id="{4218AAAC-101F-4256-A016-A2447D3C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67025"/>
            <a:ext cx="204216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Accra International Airport</a:t>
            </a:r>
          </a:p>
        </p:txBody>
      </p:sp>
      <p:sp>
        <p:nvSpPr>
          <p:cNvPr id="35" name="metric-01">
            <a:extLst xmlns:a="http://schemas.openxmlformats.org/drawingml/2006/main">
              <a:ext uri="{FF2B5EF4-FFF2-40B4-BE49-F238E27FC236}">
                <a16:creationId xmlns:a16="http://schemas.microsoft.com/office/drawing/2014/main" id="{5F41084F-A5F5-4E22-A7B0-F4DB8D06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204216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E112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E1126"/>
                </a:solidFill>
                <a:latin typeface="PingFang SC"/>
                <a:ea typeface="PingFang SC"/>
                <a:cs typeface="PingFang SC"/>
              </a:rPr>
              <a:t>2024 年旅客 3,211,751</a:t>
            </a:r>
          </a:p>
        </p:txBody>
      </p:sp>
      <p:sp>
        <p:nvSpPr>
          <p:cNvPr id="36" name="threshold-01">
            <a:extLst xmlns:a="http://schemas.openxmlformats.org/drawingml/2006/main">
              <a:ext uri="{FF2B5EF4-FFF2-40B4-BE49-F238E27FC236}">
                <a16:creationId xmlns:a16="http://schemas.microsoft.com/office/drawing/2014/main" id="{EF173A7B-F7E1-4CC8-B43E-2A78BF4B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95675"/>
            <a:ext cx="204216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门槛：年旅客 &gt; 200万</a:t>
            </a:r>
          </a:p>
        </p:txBody>
      </p:sp>
      <p:sp>
        <p:nvSpPr>
          <p:cNvPr id="37" name="status-bg-01">
            <a:extLst xmlns:a="http://schemas.openxmlformats.org/drawingml/2006/main">
              <a:ext uri="{FF2B5EF4-FFF2-40B4-BE49-F238E27FC236}">
                <a16:creationId xmlns:a16="http://schemas.microsoft.com/office/drawing/2014/main" id="{13F4E6DC-0919-43D4-9A5C-B3F0F6C4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00475"/>
            <a:ext cx="4572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tatus-01">
            <a:extLst xmlns:a="http://schemas.openxmlformats.org/drawingml/2006/main">
              <a:ext uri="{FF2B5EF4-FFF2-40B4-BE49-F238E27FC236}">
                <a16:creationId xmlns:a16="http://schemas.microsoft.com/office/drawing/2014/main" id="{F4B02684-0492-4BCB-90A7-76AC2465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04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006B3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006B3F"/>
                </a:solidFill>
                <a:latin typeface="PingFang SC"/>
                <a:ea typeface="PingFang SC"/>
                <a:cs typeface="PingFang SC"/>
              </a:rPr>
              <a:t>达标</a:t>
            </a:r>
          </a:p>
        </p:txBody>
      </p:sp>
      <p:sp>
        <p:nvSpPr>
          <p:cNvPr id="39" name="card-02">
            <a:extLst xmlns:a="http://schemas.openxmlformats.org/drawingml/2006/main">
              <a:ext uri="{FF2B5EF4-FFF2-40B4-BE49-F238E27FC236}">
                <a16:creationId xmlns:a16="http://schemas.microsoft.com/office/drawing/2014/main" id="{94059756-8963-46C1-8A0B-A44C5B17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752600"/>
            <a:ext cx="2232660" cy="2286000"/>
          </a:xfrm>
          <a:prstGeom xmlns:a="http://schemas.openxmlformats.org/drawingml/2006/main" prst="roundRect">
            <a:avLst>
              <a:gd name="adj" fmla="val 12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d39e2c0dd4f4f"/>
          <a:srcRect xmlns:a="http://schemas.openxmlformats.org/drawingml/2006/main" l="0" t="20750" r="0" b="207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51760" y="1752600"/>
            <a:ext cx="2232660" cy="866775"/>
          </a:xfrm>
          <a:prstGeom xmlns:a="http://schemas.openxmlformats.org/drawingml/2006/main" prst="rect">
            <a:avLst/>
          </a:prstGeom>
        </p:spPr>
      </p:pic>
      <p:sp>
        <p:nvSpPr>
          <p:cNvPr id="41" name="index-bg-02">
            <a:extLst xmlns:a="http://schemas.openxmlformats.org/drawingml/2006/main">
              <a:ext uri="{FF2B5EF4-FFF2-40B4-BE49-F238E27FC236}">
                <a16:creationId xmlns:a16="http://schemas.microsoft.com/office/drawing/2014/main" id="{DACFE039-DB9E-4977-B3E2-EB6E5748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7526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index-02">
            <a:extLst xmlns:a="http://schemas.openxmlformats.org/drawingml/2006/main">
              <a:ext uri="{FF2B5EF4-FFF2-40B4-BE49-F238E27FC236}">
                <a16:creationId xmlns:a16="http://schemas.microsoft.com/office/drawing/2014/main" id="{3BD36C57-3B29-40B6-8182-9A56FF72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7526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3" name="scene-02">
            <a:extLst xmlns:a="http://schemas.openxmlformats.org/drawingml/2006/main">
              <a:ext uri="{FF2B5EF4-FFF2-40B4-BE49-F238E27FC236}">
                <a16:creationId xmlns:a16="http://schemas.microsoft.com/office/drawing/2014/main" id="{9FDD4518-DC9A-41B9-BFBB-E86027F3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10" y="2676525"/>
            <a:ext cx="918972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A90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A900"/>
                </a:solidFill>
                <a:latin typeface="PingFang SC"/>
                <a:ea typeface="PingFang SC"/>
                <a:cs typeface="PingFang SC"/>
              </a:rPr>
              <a:t>交通枢纽</a:t>
            </a:r>
          </a:p>
        </p:txBody>
      </p:sp>
      <p:sp>
        <p:nvSpPr>
          <p:cNvPr id="44" name="counts-02">
            <a:extLst xmlns:a="http://schemas.openxmlformats.org/drawingml/2006/main">
              <a:ext uri="{FF2B5EF4-FFF2-40B4-BE49-F238E27FC236}">
                <a16:creationId xmlns:a16="http://schemas.microsoft.com/office/drawing/2014/main" id="{3301E837-5C8B-48ED-AF44-EAB244B1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5139" y="2676525"/>
            <a:ext cx="1164031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候选 1  ·  推荐 0</a:t>
            </a:r>
          </a:p>
        </p:txBody>
      </p:sp>
      <p:sp>
        <p:nvSpPr>
          <p:cNvPr id="45" name="name-02">
            <a:extLst xmlns:a="http://schemas.openxmlformats.org/drawingml/2006/main">
              <a:ext uri="{FF2B5EF4-FFF2-40B4-BE49-F238E27FC236}">
                <a16:creationId xmlns:a16="http://schemas.microsoft.com/office/drawing/2014/main" id="{2D1A6FB0-830E-4D17-8CD6-FD7AD66F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10" y="2867025"/>
            <a:ext cx="204216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Accra Central Station</a:t>
            </a:r>
          </a:p>
        </p:txBody>
      </p:sp>
      <p:sp>
        <p:nvSpPr>
          <p:cNvPr id="46" name="metric-02">
            <a:extLst xmlns:a="http://schemas.openxmlformats.org/drawingml/2006/main">
              <a:ext uri="{FF2B5EF4-FFF2-40B4-BE49-F238E27FC236}">
                <a16:creationId xmlns:a16="http://schemas.microsoft.com/office/drawing/2014/main" id="{770C1636-D364-499C-A4F4-C6CCE652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10" y="3219450"/>
            <a:ext cx="204216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9A9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9A900"/>
                </a:solidFill>
                <a:latin typeface="PingFang SC"/>
                <a:ea typeface="PingFang SC"/>
                <a:cs typeface="PingFang SC"/>
              </a:rPr>
              <a:t>当前运营线路 1 条</a:t>
            </a:r>
          </a:p>
        </p:txBody>
      </p:sp>
      <p:sp>
        <p:nvSpPr>
          <p:cNvPr id="47" name="threshold-02">
            <a:extLst xmlns:a="http://schemas.openxmlformats.org/drawingml/2006/main">
              <a:ext uri="{FF2B5EF4-FFF2-40B4-BE49-F238E27FC236}">
                <a16:creationId xmlns:a16="http://schemas.microsoft.com/office/drawing/2014/main" id="{4D5CE63F-2E85-4088-8A8D-2057543C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10" y="3495675"/>
            <a:ext cx="204216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门槛：接入线路 &gt; 1条</a:t>
            </a:r>
          </a:p>
        </p:txBody>
      </p:sp>
      <p:sp>
        <p:nvSpPr>
          <p:cNvPr id="48" name="status-bg-02">
            <a:extLst xmlns:a="http://schemas.openxmlformats.org/drawingml/2006/main">
              <a:ext uri="{FF2B5EF4-FFF2-40B4-BE49-F238E27FC236}">
                <a16:creationId xmlns:a16="http://schemas.microsoft.com/office/drawing/2014/main" id="{25D7F3DC-18F6-49D0-B21A-A88F9238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10" y="3800475"/>
            <a:ext cx="4572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tatus-02">
            <a:extLst xmlns:a="http://schemas.openxmlformats.org/drawingml/2006/main">
              <a:ext uri="{FF2B5EF4-FFF2-40B4-BE49-F238E27FC236}">
                <a16:creationId xmlns:a16="http://schemas.microsoft.com/office/drawing/2014/main" id="{685DE50B-A085-4F4F-81F4-DE4A1B9B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110" y="38004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未达标</a:t>
            </a:r>
          </a:p>
        </p:txBody>
      </p:sp>
      <p:sp>
        <p:nvSpPr>
          <p:cNvPr id="50" name="card-03">
            <a:extLst xmlns:a="http://schemas.openxmlformats.org/drawingml/2006/main">
              <a:ext uri="{FF2B5EF4-FFF2-40B4-BE49-F238E27FC236}">
                <a16:creationId xmlns:a16="http://schemas.microsoft.com/office/drawing/2014/main" id="{69294346-CC3D-4061-AFB2-D41A89BF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670" y="1752600"/>
            <a:ext cx="2232660" cy="2286000"/>
          </a:xfrm>
          <a:prstGeom xmlns:a="http://schemas.openxmlformats.org/drawingml/2006/main" prst="roundRect">
            <a:avLst>
              <a:gd name="adj" fmla="val 12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827cbfd61421d"/>
          <a:srcRect xmlns:a="http://schemas.openxmlformats.org/drawingml/2006/main" l="0" t="20838" r="0" b="20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9670" y="1752600"/>
            <a:ext cx="2232660" cy="866775"/>
          </a:xfrm>
          <a:prstGeom xmlns:a="http://schemas.openxmlformats.org/drawingml/2006/main" prst="rect">
            <a:avLst/>
          </a:prstGeom>
        </p:spPr>
      </p:pic>
      <p:sp>
        <p:nvSpPr>
          <p:cNvPr id="52" name="index-bg-03">
            <a:extLst xmlns:a="http://schemas.openxmlformats.org/drawingml/2006/main">
              <a:ext uri="{FF2B5EF4-FFF2-40B4-BE49-F238E27FC236}">
                <a16:creationId xmlns:a16="http://schemas.microsoft.com/office/drawing/2014/main" id="{4A9CE81F-4832-4FAE-A756-270BFE88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670" y="17526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index-03">
            <a:extLst xmlns:a="http://schemas.openxmlformats.org/drawingml/2006/main">
              <a:ext uri="{FF2B5EF4-FFF2-40B4-BE49-F238E27FC236}">
                <a16:creationId xmlns:a16="http://schemas.microsoft.com/office/drawing/2014/main" id="{4102FED6-7EFD-49E0-8F92-070D896C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670" y="17526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4" name="scene-03">
            <a:extLst xmlns:a="http://schemas.openxmlformats.org/drawingml/2006/main">
              <a:ext uri="{FF2B5EF4-FFF2-40B4-BE49-F238E27FC236}">
                <a16:creationId xmlns:a16="http://schemas.microsoft.com/office/drawing/2014/main" id="{927886E3-0719-4FBF-864F-2DE2B610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676525"/>
            <a:ext cx="918972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B3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6B3F"/>
                </a:solidFill>
                <a:latin typeface="PingFang SC"/>
                <a:ea typeface="PingFang SC"/>
                <a:cs typeface="PingFang SC"/>
              </a:rPr>
              <a:t>会展中心</a:t>
            </a:r>
          </a:p>
        </p:txBody>
      </p:sp>
      <p:sp>
        <p:nvSpPr>
          <p:cNvPr id="55" name="counts-03">
            <a:extLst xmlns:a="http://schemas.openxmlformats.org/drawingml/2006/main">
              <a:ext uri="{FF2B5EF4-FFF2-40B4-BE49-F238E27FC236}">
                <a16:creationId xmlns:a16="http://schemas.microsoft.com/office/drawing/2014/main" id="{9AB4F15F-58A6-48E3-AFF5-46DC7432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049" y="2676525"/>
            <a:ext cx="1164031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候选 1  ·  推荐 0</a:t>
            </a:r>
          </a:p>
        </p:txBody>
      </p:sp>
      <p:sp>
        <p:nvSpPr>
          <p:cNvPr id="56" name="name-03">
            <a:extLst xmlns:a="http://schemas.openxmlformats.org/drawingml/2006/main">
              <a:ext uri="{FF2B5EF4-FFF2-40B4-BE49-F238E27FC236}">
                <a16:creationId xmlns:a16="http://schemas.microsoft.com/office/drawing/2014/main" id="{3157E9DE-0884-4030-ADAA-C3CF38A2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867025"/>
            <a:ext cx="204216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Accra International Conference Centre</a:t>
            </a:r>
          </a:p>
        </p:txBody>
      </p:sp>
      <p:sp>
        <p:nvSpPr>
          <p:cNvPr id="57" name="metric-03">
            <a:extLst xmlns:a="http://schemas.openxmlformats.org/drawingml/2006/main">
              <a:ext uri="{FF2B5EF4-FFF2-40B4-BE49-F238E27FC236}">
                <a16:creationId xmlns:a16="http://schemas.microsoft.com/office/drawing/2014/main" id="{47CD4542-0FB2-4DCF-8A45-A10DE400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219450"/>
            <a:ext cx="204216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14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6B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6B3F"/>
                </a:solidFill>
                <a:latin typeface="PingFang SC"/>
                <a:ea typeface="PingFang SC"/>
                <a:cs typeface="PingFang SC"/>
              </a:rPr>
              <a:t>主会场 1,600 席（辅助）</a:t>
            </a:r>
          </a:p>
        </p:txBody>
      </p:sp>
      <p:sp>
        <p:nvSpPr>
          <p:cNvPr id="58" name="threshold-03">
            <a:extLst xmlns:a="http://schemas.openxmlformats.org/drawingml/2006/main">
              <a:ext uri="{FF2B5EF4-FFF2-40B4-BE49-F238E27FC236}">
                <a16:creationId xmlns:a16="http://schemas.microsoft.com/office/drawing/2014/main" id="{41744D25-1683-450F-A0AA-F87DF403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495675"/>
            <a:ext cx="204216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门槛：会展面积 &gt; 2.5万㎡</a:t>
            </a:r>
          </a:p>
        </p:txBody>
      </p:sp>
      <p:sp>
        <p:nvSpPr>
          <p:cNvPr id="59" name="status-bg-03">
            <a:extLst xmlns:a="http://schemas.openxmlformats.org/drawingml/2006/main">
              <a:ext uri="{FF2B5EF4-FFF2-40B4-BE49-F238E27FC236}">
                <a16:creationId xmlns:a16="http://schemas.microsoft.com/office/drawing/2014/main" id="{0176D903-AD1F-46AF-AADB-08EBF653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800475"/>
            <a:ext cx="10287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status-03">
            <a:extLst xmlns:a="http://schemas.openxmlformats.org/drawingml/2006/main">
              <a:ext uri="{FF2B5EF4-FFF2-40B4-BE49-F238E27FC236}">
                <a16:creationId xmlns:a16="http://schemas.microsoft.com/office/drawing/2014/main" id="{44C92280-6EA5-4337-A998-67F63F78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38004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8A650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8A6500"/>
                </a:solidFill>
                <a:latin typeface="PingFang SC"/>
                <a:ea typeface="PingFang SC"/>
                <a:cs typeface="PingFang SC"/>
              </a:rPr>
              <a:t>缺同口径主指标</a:t>
            </a:r>
          </a:p>
        </p:txBody>
      </p:sp>
      <p:sp>
        <p:nvSpPr>
          <p:cNvPr id="61" name="card-04">
            <a:extLst xmlns:a="http://schemas.openxmlformats.org/drawingml/2006/main">
              <a:ext uri="{FF2B5EF4-FFF2-40B4-BE49-F238E27FC236}">
                <a16:creationId xmlns:a16="http://schemas.microsoft.com/office/drawing/2014/main" id="{70E55311-2E3E-4D03-B0C2-C0F18F65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1752600"/>
            <a:ext cx="2232660" cy="2286000"/>
          </a:xfrm>
          <a:prstGeom xmlns:a="http://schemas.openxmlformats.org/drawingml/2006/main" prst="roundRect">
            <a:avLst>
              <a:gd name="adj" fmla="val 12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c816751d648f3"/>
          <a:srcRect xmlns:a="http://schemas.openxmlformats.org/drawingml/2006/main" l="0" t="20883" r="0" b="20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07580" y="1752600"/>
            <a:ext cx="2232660" cy="866775"/>
          </a:xfrm>
          <a:prstGeom xmlns:a="http://schemas.openxmlformats.org/drawingml/2006/main" prst="rect">
            <a:avLst/>
          </a:prstGeom>
        </p:spPr>
      </p:pic>
      <p:sp>
        <p:nvSpPr>
          <p:cNvPr id="63" name="index-bg-04">
            <a:extLst xmlns:a="http://schemas.openxmlformats.org/drawingml/2006/main">
              <a:ext uri="{FF2B5EF4-FFF2-40B4-BE49-F238E27FC236}">
                <a16:creationId xmlns:a16="http://schemas.microsoft.com/office/drawing/2014/main" id="{31F577C6-423F-468F-8D12-6870E698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17526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index-04">
            <a:extLst xmlns:a="http://schemas.openxmlformats.org/drawingml/2006/main">
              <a:ext uri="{FF2B5EF4-FFF2-40B4-BE49-F238E27FC236}">
                <a16:creationId xmlns:a16="http://schemas.microsoft.com/office/drawing/2014/main" id="{AA9594EF-3023-4BA3-9282-1E50934D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17526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65" name="scene-04">
            <a:extLst xmlns:a="http://schemas.openxmlformats.org/drawingml/2006/main">
              <a:ext uri="{FF2B5EF4-FFF2-40B4-BE49-F238E27FC236}">
                <a16:creationId xmlns:a16="http://schemas.microsoft.com/office/drawing/2014/main" id="{BD55183A-A52E-436B-A35B-83D6382A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2676525"/>
            <a:ext cx="918972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商场</a:t>
            </a:r>
          </a:p>
        </p:txBody>
      </p:sp>
      <p:sp>
        <p:nvSpPr>
          <p:cNvPr id="66" name="counts-04">
            <a:extLst xmlns:a="http://schemas.openxmlformats.org/drawingml/2006/main">
              <a:ext uri="{FF2B5EF4-FFF2-40B4-BE49-F238E27FC236}">
                <a16:creationId xmlns:a16="http://schemas.microsoft.com/office/drawing/2014/main" id="{9E5AC777-C711-48FA-A45E-C35A4493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959" y="2676525"/>
            <a:ext cx="1164031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候选 10  ·  推荐 0</a:t>
            </a:r>
          </a:p>
        </p:txBody>
      </p:sp>
      <p:sp>
        <p:nvSpPr>
          <p:cNvPr id="67" name="name-04">
            <a:extLst xmlns:a="http://schemas.openxmlformats.org/drawingml/2006/main">
              <a:ext uri="{FF2B5EF4-FFF2-40B4-BE49-F238E27FC236}">
                <a16:creationId xmlns:a16="http://schemas.microsoft.com/office/drawing/2014/main" id="{839FF18D-2D08-41B7-9CFB-803F1D98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2867025"/>
            <a:ext cx="204216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Kumasi City Mall</a:t>
            </a:r>
          </a:p>
        </p:txBody>
      </p:sp>
      <p:sp>
        <p:nvSpPr>
          <p:cNvPr id="68" name="metric-04">
            <a:extLst xmlns:a="http://schemas.openxmlformats.org/drawingml/2006/main">
              <a:ext uri="{FF2B5EF4-FFF2-40B4-BE49-F238E27FC236}">
                <a16:creationId xmlns:a16="http://schemas.microsoft.com/office/drawing/2014/main" id="{D01B7D80-33C9-4A8E-B571-13AC925D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3219450"/>
            <a:ext cx="204216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GLA 18,389㎡</a:t>
            </a:r>
          </a:p>
        </p:txBody>
      </p:sp>
      <p:sp>
        <p:nvSpPr>
          <p:cNvPr id="69" name="threshold-04">
            <a:extLst xmlns:a="http://schemas.openxmlformats.org/drawingml/2006/main">
              <a:ext uri="{FF2B5EF4-FFF2-40B4-BE49-F238E27FC236}">
                <a16:creationId xmlns:a16="http://schemas.microsoft.com/office/drawing/2014/main" id="{B3A2E53F-C3DC-459E-8CF7-925DFCB9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3495675"/>
            <a:ext cx="204216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门槛：GLA &gt; 12万㎡</a:t>
            </a:r>
          </a:p>
        </p:txBody>
      </p:sp>
      <p:sp>
        <p:nvSpPr>
          <p:cNvPr id="70" name="status-bg-04">
            <a:extLst xmlns:a="http://schemas.openxmlformats.org/drawingml/2006/main">
              <a:ext uri="{FF2B5EF4-FFF2-40B4-BE49-F238E27FC236}">
                <a16:creationId xmlns:a16="http://schemas.microsoft.com/office/drawing/2014/main" id="{57491A30-0A88-4E74-A468-EA98DB51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3800475"/>
            <a:ext cx="4572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status-04">
            <a:extLst xmlns:a="http://schemas.openxmlformats.org/drawingml/2006/main">
              <a:ext uri="{FF2B5EF4-FFF2-40B4-BE49-F238E27FC236}">
                <a16:creationId xmlns:a16="http://schemas.microsoft.com/office/drawing/2014/main" id="{A3044D35-3DD0-46E7-95B7-2DA054B7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930" y="38004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未达标</a:t>
            </a:r>
          </a:p>
        </p:txBody>
      </p:sp>
      <p:sp>
        <p:nvSpPr>
          <p:cNvPr id="72" name="card-05">
            <a:extLst xmlns:a="http://schemas.openxmlformats.org/drawingml/2006/main">
              <a:ext uri="{FF2B5EF4-FFF2-40B4-BE49-F238E27FC236}">
                <a16:creationId xmlns:a16="http://schemas.microsoft.com/office/drawing/2014/main" id="{330EA4CC-6D69-4101-A818-52FBF966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1752600"/>
            <a:ext cx="2232660" cy="2286000"/>
          </a:xfrm>
          <a:prstGeom xmlns:a="http://schemas.openxmlformats.org/drawingml/2006/main" prst="roundRect">
            <a:avLst>
              <a:gd name="adj" fmla="val 12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6ee09d2744479"/>
          <a:srcRect xmlns:a="http://schemas.openxmlformats.org/drawingml/2006/main" l="0" t="18018" r="0" b="180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35490" y="1752600"/>
            <a:ext cx="2232660" cy="866775"/>
          </a:xfrm>
          <a:prstGeom xmlns:a="http://schemas.openxmlformats.org/drawingml/2006/main" prst="rect">
            <a:avLst/>
          </a:prstGeom>
        </p:spPr>
      </p:pic>
      <p:sp>
        <p:nvSpPr>
          <p:cNvPr id="74" name="index-bg-05">
            <a:extLst xmlns:a="http://schemas.openxmlformats.org/drawingml/2006/main">
              <a:ext uri="{FF2B5EF4-FFF2-40B4-BE49-F238E27FC236}">
                <a16:creationId xmlns:a16="http://schemas.microsoft.com/office/drawing/2014/main" id="{2038E09C-9543-4702-9854-8BF8A9E3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17526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1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index-05">
            <a:extLst xmlns:a="http://schemas.openxmlformats.org/drawingml/2006/main">
              <a:ext uri="{FF2B5EF4-FFF2-40B4-BE49-F238E27FC236}">
                <a16:creationId xmlns:a16="http://schemas.microsoft.com/office/drawing/2014/main" id="{9C2A44A9-82FC-42E6-BBBE-736CC89C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17526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11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76" name="scene-05">
            <a:extLst xmlns:a="http://schemas.openxmlformats.org/drawingml/2006/main">
              <a:ext uri="{FF2B5EF4-FFF2-40B4-BE49-F238E27FC236}">
                <a16:creationId xmlns:a16="http://schemas.microsoft.com/office/drawing/2014/main" id="{E6B045B1-5F4B-44D1-90CD-1D088A4E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2676525"/>
            <a:ext cx="918972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E112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E1126"/>
                </a:solidFill>
                <a:latin typeface="PingFang SC"/>
                <a:ea typeface="PingFang SC"/>
                <a:cs typeface="PingFang SC"/>
              </a:rPr>
              <a:t>体育场</a:t>
            </a:r>
          </a:p>
        </p:txBody>
      </p:sp>
      <p:sp>
        <p:nvSpPr>
          <p:cNvPr id="77" name="counts-05">
            <a:extLst xmlns:a="http://schemas.openxmlformats.org/drawingml/2006/main">
              <a:ext uri="{FF2B5EF4-FFF2-40B4-BE49-F238E27FC236}">
                <a16:creationId xmlns:a16="http://schemas.microsoft.com/office/drawing/2014/main" id="{D3BBB592-90BA-4426-8AE8-07A11AEC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8869" y="2676525"/>
            <a:ext cx="1164031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候选 14  ·  推荐 2</a:t>
            </a:r>
          </a:p>
        </p:txBody>
      </p:sp>
      <p:sp>
        <p:nvSpPr>
          <p:cNvPr id="78" name="name-05">
            <a:extLst xmlns:a="http://schemas.openxmlformats.org/drawingml/2006/main">
              <a:ext uri="{FF2B5EF4-FFF2-40B4-BE49-F238E27FC236}">
                <a16:creationId xmlns:a16="http://schemas.microsoft.com/office/drawing/2014/main" id="{535C13AC-C79E-4888-A398-6898AEE4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2867025"/>
            <a:ext cx="204216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Accra Sports Stadium</a:t>
            </a:r>
          </a:p>
        </p:txBody>
      </p:sp>
      <p:sp>
        <p:nvSpPr>
          <p:cNvPr id="79" name="metric-05">
            <a:extLst xmlns:a="http://schemas.openxmlformats.org/drawingml/2006/main">
              <a:ext uri="{FF2B5EF4-FFF2-40B4-BE49-F238E27FC236}">
                <a16:creationId xmlns:a16="http://schemas.microsoft.com/office/drawing/2014/main" id="{F5FFB257-70CF-4F63-844E-880E05C7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3219450"/>
            <a:ext cx="204216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E112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E1126"/>
                </a:solidFill>
                <a:latin typeface="PingFang SC"/>
                <a:ea typeface="PingFang SC"/>
                <a:cs typeface="PingFang SC"/>
              </a:rPr>
              <a:t>座位 40,000</a:t>
            </a:r>
          </a:p>
        </p:txBody>
      </p:sp>
      <p:sp>
        <p:nvSpPr>
          <p:cNvPr id="80" name="threshold-05">
            <a:extLst xmlns:a="http://schemas.openxmlformats.org/drawingml/2006/main">
              <a:ext uri="{FF2B5EF4-FFF2-40B4-BE49-F238E27FC236}">
                <a16:creationId xmlns:a16="http://schemas.microsoft.com/office/drawing/2014/main" id="{B67D2768-7E40-404A-AA1B-4AC439BF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3495675"/>
            <a:ext cx="204216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门槛：座位 &gt; 2万</a:t>
            </a:r>
          </a:p>
        </p:txBody>
      </p:sp>
      <p:sp>
        <p:nvSpPr>
          <p:cNvPr id="81" name="status-bg-05">
            <a:extLst xmlns:a="http://schemas.openxmlformats.org/drawingml/2006/main">
              <a:ext uri="{FF2B5EF4-FFF2-40B4-BE49-F238E27FC236}">
                <a16:creationId xmlns:a16="http://schemas.microsoft.com/office/drawing/2014/main" id="{D6B7D4B6-389E-49FC-B72C-A8F84DC0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0740" y="3800475"/>
            <a:ext cx="4572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status-05">
            <a:extLst xmlns:a="http://schemas.openxmlformats.org/drawingml/2006/main">
              <a:ext uri="{FF2B5EF4-FFF2-40B4-BE49-F238E27FC236}">
                <a16:creationId xmlns:a16="http://schemas.microsoft.com/office/drawing/2014/main" id="{E0BFC755-83A1-4415-A162-9D3CF2BC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8004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006B3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006B3F"/>
                </a:solidFill>
                <a:latin typeface="PingFang SC"/>
                <a:ea typeface="PingFang SC"/>
                <a:cs typeface="PingFang SC"/>
              </a:rPr>
              <a:t>达标</a:t>
            </a:r>
          </a:p>
        </p:txBody>
      </p:sp>
      <p:sp>
        <p:nvSpPr>
          <p:cNvPr id="83" name="card-06">
            <a:extLst xmlns:a="http://schemas.openxmlformats.org/drawingml/2006/main">
              <a:ext uri="{FF2B5EF4-FFF2-40B4-BE49-F238E27FC236}">
                <a16:creationId xmlns:a16="http://schemas.microsoft.com/office/drawing/2014/main" id="{EE836C9A-98AC-4698-8074-CAAE328D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52900"/>
            <a:ext cx="2814638" cy="2343150"/>
          </a:xfrm>
          <a:prstGeom xmlns:a="http://schemas.openxmlformats.org/drawingml/2006/main" prst="roundRect">
            <a:avLst>
              <a:gd name="adj" fmla="val 12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2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fac60430c48bb"/>
          <a:srcRect xmlns:a="http://schemas.openxmlformats.org/drawingml/2006/main" l="0" t="20152" r="0" b="20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" y="4152900"/>
            <a:ext cx="2814638" cy="933450"/>
          </a:xfrm>
          <a:prstGeom xmlns:a="http://schemas.openxmlformats.org/drawingml/2006/main" prst="rect">
            <a:avLst/>
          </a:prstGeom>
        </p:spPr>
      </p:pic>
      <p:sp>
        <p:nvSpPr>
          <p:cNvPr id="85" name="index-bg-06">
            <a:extLst xmlns:a="http://schemas.openxmlformats.org/drawingml/2006/main">
              <a:ext uri="{FF2B5EF4-FFF2-40B4-BE49-F238E27FC236}">
                <a16:creationId xmlns:a16="http://schemas.microsoft.com/office/drawing/2014/main" id="{DD22F878-81C5-416D-A81F-2B80BAAC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529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index-06">
            <a:extLst xmlns:a="http://schemas.openxmlformats.org/drawingml/2006/main">
              <a:ext uri="{FF2B5EF4-FFF2-40B4-BE49-F238E27FC236}">
                <a16:creationId xmlns:a16="http://schemas.microsoft.com/office/drawing/2014/main" id="{50A4A10D-B4F6-4C12-9C98-D834B57B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529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9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87" name="scene-06">
            <a:extLst xmlns:a="http://schemas.openxmlformats.org/drawingml/2006/main">
              <a:ext uri="{FF2B5EF4-FFF2-40B4-BE49-F238E27FC236}">
                <a16:creationId xmlns:a16="http://schemas.microsoft.com/office/drawing/2014/main" id="{F3524572-64F1-40AE-90FB-FDD1219D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0"/>
            <a:ext cx="1180862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A90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A900"/>
                </a:solidFill>
                <a:latin typeface="PingFang SC"/>
                <a:ea typeface="PingFang SC"/>
                <a:cs typeface="PingFang SC"/>
              </a:rPr>
              <a:t>酒店</a:t>
            </a:r>
          </a:p>
        </p:txBody>
      </p:sp>
      <p:sp>
        <p:nvSpPr>
          <p:cNvPr id="88" name="counts-06">
            <a:extLst xmlns:a="http://schemas.openxmlformats.org/drawingml/2006/main">
              <a:ext uri="{FF2B5EF4-FFF2-40B4-BE49-F238E27FC236}">
                <a16:creationId xmlns:a16="http://schemas.microsoft.com/office/drawing/2014/main" id="{CBF77686-7F9B-4DAE-A0AA-48C2AE51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479" y="5143500"/>
            <a:ext cx="1495758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候选 15  ·  推荐 0</a:t>
            </a:r>
          </a:p>
        </p:txBody>
      </p:sp>
      <p:sp>
        <p:nvSpPr>
          <p:cNvPr id="89" name="name-06">
            <a:extLst xmlns:a="http://schemas.openxmlformats.org/drawingml/2006/main">
              <a:ext uri="{FF2B5EF4-FFF2-40B4-BE49-F238E27FC236}">
                <a16:creationId xmlns:a16="http://schemas.microsoft.com/office/drawing/2014/main" id="{49FA904A-C7A1-416A-B8ED-EA257D41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34000"/>
            <a:ext cx="262413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Number One Oxford Street Hotel and Suites</a:t>
            </a:r>
          </a:p>
        </p:txBody>
      </p:sp>
      <p:sp>
        <p:nvSpPr>
          <p:cNvPr id="90" name="metric-06">
            <a:extLst xmlns:a="http://schemas.openxmlformats.org/drawingml/2006/main">
              <a:ext uri="{FF2B5EF4-FFF2-40B4-BE49-F238E27FC236}">
                <a16:creationId xmlns:a16="http://schemas.microsoft.com/office/drawing/2014/main" id="{FE5FFE8B-5AE7-4381-8998-F8F6B3C6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86425"/>
            <a:ext cx="262413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9A9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9A900"/>
                </a:solidFill>
                <a:latin typeface="PingFang SC"/>
                <a:ea typeface="PingFang SC"/>
                <a:cs typeface="PingFang SC"/>
              </a:rPr>
              <a:t>客房 108</a:t>
            </a:r>
          </a:p>
        </p:txBody>
      </p:sp>
      <p:sp>
        <p:nvSpPr>
          <p:cNvPr id="91" name="threshold-06">
            <a:extLst xmlns:a="http://schemas.openxmlformats.org/drawingml/2006/main">
              <a:ext uri="{FF2B5EF4-FFF2-40B4-BE49-F238E27FC236}">
                <a16:creationId xmlns:a16="http://schemas.microsoft.com/office/drawing/2014/main" id="{ACBD1416-AFED-47AC-87CF-4454273C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62650"/>
            <a:ext cx="262413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门槛：客房 &gt; 150</a:t>
            </a:r>
          </a:p>
        </p:txBody>
      </p:sp>
      <p:sp>
        <p:nvSpPr>
          <p:cNvPr id="92" name="status-bg-06">
            <a:extLst xmlns:a="http://schemas.openxmlformats.org/drawingml/2006/main">
              <a:ext uri="{FF2B5EF4-FFF2-40B4-BE49-F238E27FC236}">
                <a16:creationId xmlns:a16="http://schemas.microsoft.com/office/drawing/2014/main" id="{C2BE9C5A-0E67-488A-82B4-A08D17F9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57925"/>
            <a:ext cx="4572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status-06">
            <a:extLst xmlns:a="http://schemas.openxmlformats.org/drawingml/2006/main">
              <a:ext uri="{FF2B5EF4-FFF2-40B4-BE49-F238E27FC236}">
                <a16:creationId xmlns:a16="http://schemas.microsoft.com/office/drawing/2014/main" id="{33E2E15E-0353-47C0-B236-69FE9AF2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5792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未达标</a:t>
            </a:r>
          </a:p>
        </p:txBody>
      </p:sp>
      <p:sp>
        <p:nvSpPr>
          <p:cNvPr id="94" name="card-07">
            <a:extLst xmlns:a="http://schemas.openxmlformats.org/drawingml/2006/main">
              <a:ext uri="{FF2B5EF4-FFF2-40B4-BE49-F238E27FC236}">
                <a16:creationId xmlns:a16="http://schemas.microsoft.com/office/drawing/2014/main" id="{339BD2AD-B458-4A5E-A8B1-2CB62605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4152900"/>
            <a:ext cx="2814638" cy="2343150"/>
          </a:xfrm>
          <a:prstGeom xmlns:a="http://schemas.openxmlformats.org/drawingml/2006/main" prst="roundRect">
            <a:avLst>
              <a:gd name="adj" fmla="val 12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2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c01590a6b43b6"/>
          <a:srcRect xmlns:a="http://schemas.openxmlformats.org/drawingml/2006/main" l="0" t="25127" r="0" b="251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3738" y="4152900"/>
            <a:ext cx="2814638" cy="933450"/>
          </a:xfrm>
          <a:prstGeom xmlns:a="http://schemas.openxmlformats.org/drawingml/2006/main" prst="rect">
            <a:avLst/>
          </a:prstGeom>
        </p:spPr>
      </p:pic>
      <p:sp>
        <p:nvSpPr>
          <p:cNvPr id="96" name="index-bg-07">
            <a:extLst xmlns:a="http://schemas.openxmlformats.org/drawingml/2006/main">
              <a:ext uri="{FF2B5EF4-FFF2-40B4-BE49-F238E27FC236}">
                <a16:creationId xmlns:a16="http://schemas.microsoft.com/office/drawing/2014/main" id="{2564053E-4286-419B-9290-0FA2B46E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41529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index-07">
            <a:extLst xmlns:a="http://schemas.openxmlformats.org/drawingml/2006/main">
              <a:ext uri="{FF2B5EF4-FFF2-40B4-BE49-F238E27FC236}">
                <a16:creationId xmlns:a16="http://schemas.microsoft.com/office/drawing/2014/main" id="{36363FB1-2327-4556-BDEE-72E6D70D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41529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98" name="scene-07">
            <a:extLst xmlns:a="http://schemas.openxmlformats.org/drawingml/2006/main">
              <a:ext uri="{FF2B5EF4-FFF2-40B4-BE49-F238E27FC236}">
                <a16:creationId xmlns:a16="http://schemas.microsoft.com/office/drawing/2014/main" id="{1C40900D-BAE1-498A-A41E-79367D26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5143500"/>
            <a:ext cx="1180862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B3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6B3F"/>
                </a:solidFill>
                <a:latin typeface="PingFang SC"/>
                <a:ea typeface="PingFang SC"/>
                <a:cs typeface="PingFang SC"/>
              </a:rPr>
              <a:t>写字楼</a:t>
            </a:r>
          </a:p>
        </p:txBody>
      </p:sp>
      <p:sp>
        <p:nvSpPr>
          <p:cNvPr id="99" name="counts-07">
            <a:extLst xmlns:a="http://schemas.openxmlformats.org/drawingml/2006/main">
              <a:ext uri="{FF2B5EF4-FFF2-40B4-BE49-F238E27FC236}">
                <a16:creationId xmlns:a16="http://schemas.microsoft.com/office/drawing/2014/main" id="{7188E98F-BB48-4477-BCC2-8B71DAF3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367" y="5143500"/>
            <a:ext cx="1495758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候选 4  ·  推荐 0</a:t>
            </a:r>
          </a:p>
        </p:txBody>
      </p:sp>
      <p:sp>
        <p:nvSpPr>
          <p:cNvPr id="100" name="name-07">
            <a:extLst xmlns:a="http://schemas.openxmlformats.org/drawingml/2006/main">
              <a:ext uri="{FF2B5EF4-FFF2-40B4-BE49-F238E27FC236}">
                <a16:creationId xmlns:a16="http://schemas.microsoft.com/office/drawing/2014/main" id="{C0ED7367-F805-4496-99B9-CBCB3199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5334000"/>
            <a:ext cx="262413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The Octagon Accra</a:t>
            </a:r>
          </a:p>
        </p:txBody>
      </p:sp>
      <p:sp>
        <p:nvSpPr>
          <p:cNvPr id="101" name="metric-07">
            <a:extLst xmlns:a="http://schemas.openxmlformats.org/drawingml/2006/main">
              <a:ext uri="{FF2B5EF4-FFF2-40B4-BE49-F238E27FC236}">
                <a16:creationId xmlns:a16="http://schemas.microsoft.com/office/drawing/2014/main" id="{67404EA2-8344-498B-AAF9-5401C866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5686425"/>
            <a:ext cx="262413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6B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6B3F"/>
                </a:solidFill>
                <a:latin typeface="PingFang SC"/>
                <a:ea typeface="PingFang SC"/>
                <a:cs typeface="PingFang SC"/>
              </a:rPr>
              <a:t>GIA 75,000㎡（辅助）</a:t>
            </a:r>
          </a:p>
        </p:txBody>
      </p:sp>
      <p:sp>
        <p:nvSpPr>
          <p:cNvPr id="102" name="threshold-07">
            <a:extLst xmlns:a="http://schemas.openxmlformats.org/drawingml/2006/main">
              <a:ext uri="{FF2B5EF4-FFF2-40B4-BE49-F238E27FC236}">
                <a16:creationId xmlns:a16="http://schemas.microsoft.com/office/drawing/2014/main" id="{FACEF0D8-D8F8-4BB0-8829-F3C84002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5962650"/>
            <a:ext cx="262413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门槛：楼高 &gt; 150m</a:t>
            </a:r>
          </a:p>
        </p:txBody>
      </p:sp>
      <p:sp>
        <p:nvSpPr>
          <p:cNvPr id="103" name="status-bg-07">
            <a:extLst xmlns:a="http://schemas.openxmlformats.org/drawingml/2006/main">
              <a:ext uri="{FF2B5EF4-FFF2-40B4-BE49-F238E27FC236}">
                <a16:creationId xmlns:a16="http://schemas.microsoft.com/office/drawing/2014/main" id="{A35AFBD6-C114-4B4E-A9DC-03BD999B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6257925"/>
            <a:ext cx="10287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status-07">
            <a:extLst xmlns:a="http://schemas.openxmlformats.org/drawingml/2006/main">
              <a:ext uri="{FF2B5EF4-FFF2-40B4-BE49-F238E27FC236}">
                <a16:creationId xmlns:a16="http://schemas.microsoft.com/office/drawing/2014/main" id="{79BE8897-FD3A-467B-BAD9-47BF1C10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088" y="62579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8A650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8A6500"/>
                </a:solidFill>
                <a:latin typeface="PingFang SC"/>
                <a:ea typeface="PingFang SC"/>
                <a:cs typeface="PingFang SC"/>
              </a:rPr>
              <a:t>缺同口径主指标</a:t>
            </a:r>
          </a:p>
        </p:txBody>
      </p:sp>
      <p:sp>
        <p:nvSpPr>
          <p:cNvPr id="105" name="card-08">
            <a:extLst xmlns:a="http://schemas.openxmlformats.org/drawingml/2006/main">
              <a:ext uri="{FF2B5EF4-FFF2-40B4-BE49-F238E27FC236}">
                <a16:creationId xmlns:a16="http://schemas.microsoft.com/office/drawing/2014/main" id="{B20A5DCC-02D1-493A-8F65-48E11B75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152900"/>
            <a:ext cx="2814638" cy="2343150"/>
          </a:xfrm>
          <a:prstGeom xmlns:a="http://schemas.openxmlformats.org/drawingml/2006/main" prst="roundRect">
            <a:avLst>
              <a:gd name="adj" fmla="val 12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2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cfd668d2344ba"/>
          <a:srcRect xmlns:a="http://schemas.openxmlformats.org/drawingml/2006/main" l="0" t="28409" r="0" b="284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43625" y="4152900"/>
            <a:ext cx="2814638" cy="933450"/>
          </a:xfrm>
          <a:prstGeom xmlns:a="http://schemas.openxmlformats.org/drawingml/2006/main" prst="rect">
            <a:avLst/>
          </a:prstGeom>
        </p:spPr>
      </p:pic>
      <p:sp>
        <p:nvSpPr>
          <p:cNvPr id="107" name="index-bg-08">
            <a:extLst xmlns:a="http://schemas.openxmlformats.org/drawingml/2006/main">
              <a:ext uri="{FF2B5EF4-FFF2-40B4-BE49-F238E27FC236}">
                <a16:creationId xmlns:a16="http://schemas.microsoft.com/office/drawing/2014/main" id="{48D1ACB7-E8F4-47F0-AA01-72504A09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1529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index-08">
            <a:extLst xmlns:a="http://schemas.openxmlformats.org/drawingml/2006/main">
              <a:ext uri="{FF2B5EF4-FFF2-40B4-BE49-F238E27FC236}">
                <a16:creationId xmlns:a16="http://schemas.microsoft.com/office/drawing/2014/main" id="{C0C5204E-B9C7-4950-AE39-F5B801F5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1529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09" name="scene-08">
            <a:extLst xmlns:a="http://schemas.openxmlformats.org/drawingml/2006/main">
              <a:ext uri="{FF2B5EF4-FFF2-40B4-BE49-F238E27FC236}">
                <a16:creationId xmlns:a16="http://schemas.microsoft.com/office/drawing/2014/main" id="{87D37869-A087-4791-BB6B-E9FE5750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143500"/>
            <a:ext cx="1180862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医院</a:t>
            </a:r>
          </a:p>
        </p:txBody>
      </p:sp>
      <p:sp>
        <p:nvSpPr>
          <p:cNvPr id="110" name="counts-08">
            <a:extLst xmlns:a="http://schemas.openxmlformats.org/drawingml/2006/main">
              <a:ext uri="{FF2B5EF4-FFF2-40B4-BE49-F238E27FC236}">
                <a16:creationId xmlns:a16="http://schemas.microsoft.com/office/drawing/2014/main" id="{821D5E0C-DB8C-49EC-A338-C7FBDF6E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254" y="5143500"/>
            <a:ext cx="1495758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候选 18  ·  推荐 8</a:t>
            </a:r>
          </a:p>
        </p:txBody>
      </p:sp>
      <p:sp>
        <p:nvSpPr>
          <p:cNvPr id="111" name="name-08">
            <a:extLst xmlns:a="http://schemas.openxmlformats.org/drawingml/2006/main">
              <a:ext uri="{FF2B5EF4-FFF2-40B4-BE49-F238E27FC236}">
                <a16:creationId xmlns:a16="http://schemas.microsoft.com/office/drawing/2014/main" id="{F572E00F-FEFD-41BC-A93D-CD3BA33A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334000"/>
            <a:ext cx="262413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Korle-Bu Teaching Hospital</a:t>
            </a:r>
          </a:p>
        </p:txBody>
      </p:sp>
      <p:sp>
        <p:nvSpPr>
          <p:cNvPr id="112" name="metric-08">
            <a:extLst xmlns:a="http://schemas.openxmlformats.org/drawingml/2006/main">
              <a:ext uri="{FF2B5EF4-FFF2-40B4-BE49-F238E27FC236}">
                <a16:creationId xmlns:a16="http://schemas.microsoft.com/office/drawing/2014/main" id="{B1B5F6D9-40C9-4C1D-84E6-48066B50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686425"/>
            <a:ext cx="262413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床位 2,000+</a:t>
            </a:r>
          </a:p>
        </p:txBody>
      </p:sp>
      <p:sp>
        <p:nvSpPr>
          <p:cNvPr id="113" name="threshold-08">
            <a:extLst xmlns:a="http://schemas.openxmlformats.org/drawingml/2006/main">
              <a:ext uri="{FF2B5EF4-FFF2-40B4-BE49-F238E27FC236}">
                <a16:creationId xmlns:a16="http://schemas.microsoft.com/office/drawing/2014/main" id="{294EA629-7C7B-46B1-853B-FB05F236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962650"/>
            <a:ext cx="262413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门槛：床位 &gt; 450</a:t>
            </a:r>
          </a:p>
        </p:txBody>
      </p:sp>
      <p:sp>
        <p:nvSpPr>
          <p:cNvPr id="114" name="status-bg-08">
            <a:extLst xmlns:a="http://schemas.openxmlformats.org/drawingml/2006/main">
              <a:ext uri="{FF2B5EF4-FFF2-40B4-BE49-F238E27FC236}">
                <a16:creationId xmlns:a16="http://schemas.microsoft.com/office/drawing/2014/main" id="{744565C8-E04E-402E-A7BE-C02762D3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257925"/>
            <a:ext cx="4572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status-08">
            <a:extLst xmlns:a="http://schemas.openxmlformats.org/drawingml/2006/main">
              <a:ext uri="{FF2B5EF4-FFF2-40B4-BE49-F238E27FC236}">
                <a16:creationId xmlns:a16="http://schemas.microsoft.com/office/drawing/2014/main" id="{C5F3E979-A207-4EDA-88FD-1CCF99E1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625792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006B3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006B3F"/>
                </a:solidFill>
                <a:latin typeface="PingFang SC"/>
                <a:ea typeface="PingFang SC"/>
                <a:cs typeface="PingFang SC"/>
              </a:rPr>
              <a:t>达标</a:t>
            </a:r>
          </a:p>
        </p:txBody>
      </p:sp>
      <p:sp>
        <p:nvSpPr>
          <p:cNvPr id="116" name="card-09">
            <a:extLst xmlns:a="http://schemas.openxmlformats.org/drawingml/2006/main">
              <a:ext uri="{FF2B5EF4-FFF2-40B4-BE49-F238E27FC236}">
                <a16:creationId xmlns:a16="http://schemas.microsoft.com/office/drawing/2014/main" id="{BBCE3BDD-F030-4393-B326-B1340469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152900"/>
            <a:ext cx="2814638" cy="2343150"/>
          </a:xfrm>
          <a:prstGeom xmlns:a="http://schemas.openxmlformats.org/drawingml/2006/main" prst="roundRect">
            <a:avLst>
              <a:gd name="adj" fmla="val 12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f5bfe97564c2c"/>
          <a:srcRect xmlns:a="http://schemas.openxmlformats.org/drawingml/2006/main" l="0" t="25094" r="0" b="250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53513" y="4152900"/>
            <a:ext cx="2814638" cy="933450"/>
          </a:xfrm>
          <a:prstGeom xmlns:a="http://schemas.openxmlformats.org/drawingml/2006/main" prst="rect">
            <a:avLst/>
          </a:prstGeom>
        </p:spPr>
      </p:pic>
      <p:sp>
        <p:nvSpPr>
          <p:cNvPr id="118" name="index-bg-09">
            <a:extLst xmlns:a="http://schemas.openxmlformats.org/drawingml/2006/main">
              <a:ext uri="{FF2B5EF4-FFF2-40B4-BE49-F238E27FC236}">
                <a16:creationId xmlns:a16="http://schemas.microsoft.com/office/drawing/2014/main" id="{DA314389-9968-49B1-A3E2-7EBB768D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1529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11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index-09">
            <a:extLst xmlns:a="http://schemas.openxmlformats.org/drawingml/2006/main">
              <a:ext uri="{FF2B5EF4-FFF2-40B4-BE49-F238E27FC236}">
                <a16:creationId xmlns:a16="http://schemas.microsoft.com/office/drawing/2014/main" id="{D685C83E-A8A7-4C55-B1EB-A9016B7D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152900"/>
            <a:ext cx="323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11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20" name="scene-09">
            <a:extLst xmlns:a="http://schemas.openxmlformats.org/drawingml/2006/main">
              <a:ext uri="{FF2B5EF4-FFF2-40B4-BE49-F238E27FC236}">
                <a16:creationId xmlns:a16="http://schemas.microsoft.com/office/drawing/2014/main" id="{BEFCDD88-572B-451B-AF11-00A2BF13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5143500"/>
            <a:ext cx="1180862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E112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E1126"/>
                </a:solidFill>
                <a:latin typeface="PingFang SC"/>
                <a:ea typeface="PingFang SC"/>
                <a:cs typeface="PingFang SC"/>
              </a:rPr>
              <a:t>大学</a:t>
            </a:r>
          </a:p>
        </p:txBody>
      </p:sp>
      <p:sp>
        <p:nvSpPr>
          <p:cNvPr id="121" name="counts-09">
            <a:extLst xmlns:a="http://schemas.openxmlformats.org/drawingml/2006/main">
              <a:ext uri="{FF2B5EF4-FFF2-40B4-BE49-F238E27FC236}">
                <a16:creationId xmlns:a16="http://schemas.microsoft.com/office/drawing/2014/main" id="{240C242D-22FF-4AA7-AFF2-58F430F0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142" y="5143500"/>
            <a:ext cx="1495758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候选 13  ·  推荐 4</a:t>
            </a:r>
          </a:p>
        </p:txBody>
      </p:sp>
      <p:sp>
        <p:nvSpPr>
          <p:cNvPr id="122" name="name-09">
            <a:extLst xmlns:a="http://schemas.openxmlformats.org/drawingml/2006/main">
              <a:ext uri="{FF2B5EF4-FFF2-40B4-BE49-F238E27FC236}">
                <a16:creationId xmlns:a16="http://schemas.microsoft.com/office/drawing/2014/main" id="{CDB8E333-6C2E-401F-ABE5-AA31F12B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5334000"/>
            <a:ext cx="2624138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Kwame Nkrumah University of Science and Technology</a:t>
            </a:r>
          </a:p>
        </p:txBody>
      </p:sp>
      <p:sp>
        <p:nvSpPr>
          <p:cNvPr id="123" name="metric-09">
            <a:extLst xmlns:a="http://schemas.openxmlformats.org/drawingml/2006/main">
              <a:ext uri="{FF2B5EF4-FFF2-40B4-BE49-F238E27FC236}">
                <a16:creationId xmlns:a16="http://schemas.microsoft.com/office/drawing/2014/main" id="{4CC2E96D-492C-470A-AC1A-5792AA40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5686425"/>
            <a:ext cx="2624138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E112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E1126"/>
                </a:solidFill>
                <a:latin typeface="PingFang SC"/>
                <a:ea typeface="PingFang SC"/>
                <a:cs typeface="PingFang SC"/>
              </a:rPr>
              <a:t>在校生接近 90,000</a:t>
            </a:r>
          </a:p>
        </p:txBody>
      </p:sp>
      <p:sp>
        <p:nvSpPr>
          <p:cNvPr id="124" name="threshold-09">
            <a:extLst xmlns:a="http://schemas.openxmlformats.org/drawingml/2006/main">
              <a:ext uri="{FF2B5EF4-FFF2-40B4-BE49-F238E27FC236}">
                <a16:creationId xmlns:a16="http://schemas.microsoft.com/office/drawing/2014/main" id="{615166CD-A8B0-46C1-9AEF-91094A4E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5962650"/>
            <a:ext cx="262413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1F293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F2937"/>
                </a:solidFill>
                <a:latin typeface="PingFang SC"/>
                <a:ea typeface="PingFang SC"/>
                <a:cs typeface="PingFang SC"/>
              </a:rPr>
              <a:t>门槛：单体校园在校生 ≥ 20,000</a:t>
            </a:r>
          </a:p>
        </p:txBody>
      </p:sp>
      <p:sp>
        <p:nvSpPr>
          <p:cNvPr id="125" name="status-bg-09">
            <a:extLst xmlns:a="http://schemas.openxmlformats.org/drawingml/2006/main">
              <a:ext uri="{FF2B5EF4-FFF2-40B4-BE49-F238E27FC236}">
                <a16:creationId xmlns:a16="http://schemas.microsoft.com/office/drawing/2014/main" id="{FB46BC50-4FE4-4EFB-BB70-66C3F29F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6257925"/>
            <a:ext cx="4572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status-09">
            <a:extLst xmlns:a="http://schemas.openxmlformats.org/drawingml/2006/main">
              <a:ext uri="{FF2B5EF4-FFF2-40B4-BE49-F238E27FC236}">
                <a16:creationId xmlns:a16="http://schemas.microsoft.com/office/drawing/2014/main" id="{B37DD886-AC3D-4933-BBF1-4AB89498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625792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006B3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006B3F"/>
                </a:solidFill>
                <a:latin typeface="PingFang SC"/>
                <a:ea typeface="PingFang SC"/>
                <a:cs typeface="PingFang SC"/>
              </a:rPr>
              <a:t>达标</a:t>
            </a:r>
          </a:p>
        </p:txBody>
      </p:sp>
      <p:sp>
        <p:nvSpPr>
          <p:cNvPr id="127" name="footer-note">
            <a:extLst xmlns:a="http://schemas.openxmlformats.org/drawingml/2006/main">
              <a:ext uri="{FF2B5EF4-FFF2-40B4-BE49-F238E27FC236}">
                <a16:creationId xmlns:a16="http://schemas.microsoft.com/office/drawing/2014/main" id="{9FBA16C4-74D9-4807-AF51-563E86B0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91300"/>
            <a:ext cx="1154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场景卡融合候选规模、推荐数量、门槛与代表点；会展及办公展示值为辅助指标，不替代面积/楼高门槛。数值复核截至 2026-07-15。</a:t>
            </a:r>
          </a:p>
        </p:txBody>
      </p:sp>
    </p:spTree>
    <p:extLst>
      <p:ext uri="{BB962C8B-B14F-4D97-AF65-F5344CB8AC3E}">
        <p14:creationId xmlns:p14="http://schemas.microsoft.com/office/powerpoint/2010/main" val="1548927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2026-07-15T06:50:10.7210000Z</dcterms:created>
  <dcterms:modified xsi:type="dcterms:W3CDTF">2026-07-15T06:50:10.7210000Z</dcterms:modified>
</coreProperties>
</file>