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63ef08aed34076" /><Relationship Type="http://schemas.openxmlformats.org/officeDocument/2006/relationships/extended-properties" Target="/docProps/app.xml" Id="R2bf6a9417f2445c0" /><Relationship Type="http://schemas.openxmlformats.org/officeDocument/2006/relationships/officeDocument" Target="/ppt/presentation.xml" Id="Rfc8042c71a9e4b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9ccdf71aa400c"/>
  </p:sldMasterIdLst>
  <p:notesMasterIdLst>
    <p:notesMasterId xmlns:r="http://schemas.openxmlformats.org/officeDocument/2006/relationships" r:id="R0f7bf038ddd54a7a"/>
  </p:notesMasterIdLst>
  <p:sldIdLst>
    <p:sldId xmlns:r="http://schemas.openxmlformats.org/officeDocument/2006/relationships" id="256" r:id="R47a9a916a7f244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fc77bc4b394d2a" /><Relationship Type="http://schemas.openxmlformats.org/officeDocument/2006/relationships/slideMaster" Target="/ppt/slideMasters/slideMaster1.xml" Id="Reb09ccdf71aa400c" /><Relationship Type="http://schemas.openxmlformats.org/officeDocument/2006/relationships/notesMaster" Target="/ppt/notesMasters/notesMaster1.xml" Id="R0f7bf038ddd54a7a" /><Relationship Type="http://schemas.openxmlformats.org/officeDocument/2006/relationships/presProps" Target="/ppt/presProps.xml" Id="R9bfee7a7dcb145e0" /><Relationship Type="http://schemas.openxmlformats.org/officeDocument/2006/relationships/tableStyles" Target="/ppt/tableStyles.xml" Id="R49f722ac2c5249b8" /><Relationship Type="http://schemas.openxmlformats.org/officeDocument/2006/relationships/slide" Target="/ppt/slides/slide1.xml" Id="R47a9a916a7f244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3cb911d14f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5c12c4e6ba4d4d" /><Relationship Type="http://schemas.openxmlformats.org/officeDocument/2006/relationships/notesMaster" Target="/ppt/notesMasters/notesMaster1.xml" Id="R94fd36b41fb94e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0e45686d345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9fc2cb5f5e45e6" /><Relationship Type="http://schemas.openxmlformats.org/officeDocument/2006/relationships/slideLayout" Target="/ppt/slideLayouts/slideLayout1.xml" Id="Rb3f177a1287447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f177a1287447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de47d3f2d48f7" /><Relationship Type="http://schemas.openxmlformats.org/officeDocument/2006/relationships/image" Target="/ppt/media/image.jpeg" Id="Rfe0a34884eaa46d6" /><Relationship Type="http://schemas.openxmlformats.org/officeDocument/2006/relationships/image" Target="/ppt/media/image2.jpeg" Id="R4863c73300fa4812" /><Relationship Type="http://schemas.openxmlformats.org/officeDocument/2006/relationships/image" Target="/ppt/media/image3.jpeg" Id="Ra5f0bb9da8604fe2" /><Relationship Type="http://schemas.openxmlformats.org/officeDocument/2006/relationships/image" Target="/ppt/media/image4.jpeg" Id="Rb68b4520a36f45b1" /><Relationship Type="http://schemas.openxmlformats.org/officeDocument/2006/relationships/image" Target="/ppt/media/image5.jpeg" Id="R3a83379cfe0845ca" /><Relationship Type="http://schemas.openxmlformats.org/officeDocument/2006/relationships/image" Target="/ppt/media/image6.jpeg" Id="R203a7d6d237e4eb7" /><Relationship Type="http://schemas.openxmlformats.org/officeDocument/2006/relationships/image" Target="/ppt/media/image.png" Id="R8c73f3ebab8c4b6f" /><Relationship Type="http://schemas.openxmlformats.org/officeDocument/2006/relationships/image" Target="/ppt/media/image7.jpeg" Id="R1b763c856ce148d7" /><Relationship Type="http://schemas.openxmlformats.org/officeDocument/2006/relationships/image" Target="/ppt/media/image8.jpeg" Id="Rf655cdcc3f5b4e4b" /><Relationship Type="http://schemas.openxmlformats.org/officeDocument/2006/relationships/notesSlide" Target="/ppt/notesSlides/notesSlide1.xml" Id="R07a7fed703c7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lag-red">
            <a:extLst xmlns:a="http://schemas.openxmlformats.org/drawingml/2006/main">
              <a:ext uri="{FF2B5EF4-FFF2-40B4-BE49-F238E27FC236}">
                <a16:creationId xmlns:a16="http://schemas.microsoft.com/office/drawing/2014/main" id="{9DD3A842-0016-4A3D-83AA-35FD941D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lag-gold">
            <a:extLst xmlns:a="http://schemas.openxmlformats.org/drawingml/2006/main">
              <a:ext uri="{FF2B5EF4-FFF2-40B4-BE49-F238E27FC236}">
                <a16:creationId xmlns:a16="http://schemas.microsoft.com/office/drawing/2014/main" id="{D87C2CB8-AD48-4E31-B3B0-03A84341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266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lag-green">
            <a:extLst xmlns:a="http://schemas.openxmlformats.org/drawingml/2006/main">
              <a:ext uri="{FF2B5EF4-FFF2-40B4-BE49-F238E27FC236}">
                <a16:creationId xmlns:a16="http://schemas.microsoft.com/office/drawing/2014/main" id="{D4661606-F5F0-470C-AA23-B226BAE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266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ag-star">
            <a:extLst xmlns:a="http://schemas.openxmlformats.org/drawingml/2006/main">
              <a:ext uri="{FF2B5EF4-FFF2-40B4-BE49-F238E27FC236}">
                <a16:creationId xmlns:a16="http://schemas.microsoft.com/office/drawing/2014/main" id="{803FE205-3E92-4A51-BAEA-BAE0CE55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342900"/>
            <a:ext cx="24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98914BB-B113-419C-AFFD-9324231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6858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Ghana High-Value Building Insights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586B227-BA6E-475D-9B05-10359F5E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81 qualified candidates  ·  15 threshold recommendations  ·  9 scenes</a:t>
            </a:r>
          </a:p>
        </p:txBody>
      </p:sp>
      <p:sp>
        <p:nvSpPr>
          <p:cNvPr id="7" name="insight-rule">
            <a:extLst xmlns:a="http://schemas.openxmlformats.org/drawingml/2006/main">
              <a:ext uri="{FF2B5EF4-FFF2-40B4-BE49-F238E27FC236}">
                <a16:creationId xmlns:a16="http://schemas.microsoft.com/office/drawing/2014/main" id="{F4E7F7DF-D643-46AF-B53E-EB218D1B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sight-label">
            <a:extLst xmlns:a="http://schemas.openxmlformats.org/drawingml/2006/main">
              <a:ext uri="{FF2B5EF4-FFF2-40B4-BE49-F238E27FC236}">
                <a16:creationId xmlns:a16="http://schemas.microsoft.com/office/drawing/2014/main" id="{5B47E41D-5482-46ED-8FA0-1FFF17F5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RECOMMENDATION MIX</a:t>
            </a:r>
          </a:p>
        </p:txBody>
      </p:sp>
      <p:sp>
        <p:nvSpPr>
          <p:cNvPr id="9" name="insight-distribution">
            <a:extLst xmlns:a="http://schemas.openxmlformats.org/drawingml/2006/main">
              <a:ext uri="{FF2B5EF4-FFF2-40B4-BE49-F238E27FC236}">
                <a16:creationId xmlns:a16="http://schemas.microsoft.com/office/drawing/2014/main" id="{6DAE5A92-8ACA-450C-A37C-EB8125FB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University 4  ·  Hospital 8  ·  Stadium 2  ·  Airport 1</a:t>
            </a:r>
          </a:p>
        </p:txBody>
      </p:sp>
      <p:sp>
        <p:nvSpPr>
          <p:cNvPr id="10" name="insight-audit">
            <a:extLst xmlns:a="http://schemas.openxmlformats.org/drawingml/2006/main">
              <a:ext uri="{FF2B5EF4-FFF2-40B4-BE49-F238E27FC236}">
                <a16:creationId xmlns:a16="http://schemas.microsoft.com/office/drawing/2014/main" id="{8BFD084D-EB72-4E79-A905-338E61AE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704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06B3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06B3F"/>
                </a:solidFill>
                <a:latin typeface="Arial"/>
                <a:ea typeface="Arial"/>
                <a:cs typeface="Arial"/>
              </a:rPr>
              <a:t>Recommendations follow scene hard-metric thresholds</a:t>
            </a:r>
          </a:p>
        </p:txBody>
      </p:sp>
      <p:sp>
        <p:nvSpPr>
          <p:cNvPr id="1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83E704F-0C57-47E7-9D6A-5DF5AB4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EEE5B7A0-8F71-4AE9-A5D3-AAF4F4D8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1430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3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33D54D5B-9206-4E85-B2FF-F189352C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1430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CB2FD1B0-489F-4E70-98AC-7B2B09A5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1430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A3A3A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A3A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process-number-bg-1">
            <a:extLst xmlns:a="http://schemas.openxmlformats.org/drawingml/2006/main">
              <a:ext uri="{FF2B5EF4-FFF2-40B4-BE49-F238E27FC236}">
                <a16:creationId xmlns:a16="http://schemas.microsoft.com/office/drawing/2014/main" id="{5FB01B14-B526-4DCF-84E7-3CD37A7A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AE5145CA-C6A2-46E0-A4C8-25E4C41E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19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9ACDD479-809C-406D-8457-78CB68D3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715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Directory leads</a:t>
            </a:r>
          </a:p>
        </p:txBody>
      </p:sp>
      <p:sp>
        <p:nvSpPr>
          <p:cNvPr id="18" name="process-number-bg-2">
            <a:extLst xmlns:a="http://schemas.openxmlformats.org/drawingml/2006/main">
              <a:ext uri="{FF2B5EF4-FFF2-40B4-BE49-F238E27FC236}">
                <a16:creationId xmlns:a16="http://schemas.microsoft.com/office/drawing/2014/main" id="{EB48D739-9443-45D4-B907-148B2594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1715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9050C00C-81D5-45CC-A73D-043D4A6D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19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D5AF24FD-BBE4-452C-8013-9253D867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1715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Location &amp; primary metric</a:t>
            </a:r>
          </a:p>
        </p:txBody>
      </p:sp>
      <p:sp>
        <p:nvSpPr>
          <p:cNvPr id="21" name="process-number-bg-3">
            <a:extLst xmlns:a="http://schemas.openxmlformats.org/drawingml/2006/main">
              <a:ext uri="{FF2B5EF4-FFF2-40B4-BE49-F238E27FC236}">
                <a16:creationId xmlns:a16="http://schemas.microsoft.com/office/drawing/2014/main" id="{257875EE-7221-4B39-8388-E7FE22FC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715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B49BB50A-9B30-4CFA-988A-4E9AC668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219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2322FCD6-D75A-4F7D-9713-2584F8D1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715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Proxy value model</a:t>
            </a:r>
          </a:p>
        </p:txBody>
      </p:sp>
      <p:sp>
        <p:nvSpPr>
          <p:cNvPr id="24" name="process-number-bg-4">
            <a:extLst xmlns:a="http://schemas.openxmlformats.org/drawingml/2006/main">
              <a:ext uri="{FF2B5EF4-FFF2-40B4-BE49-F238E27FC236}">
                <a16:creationId xmlns:a16="http://schemas.microsoft.com/office/drawing/2014/main" id="{291D9A26-EE1E-447A-91BF-64CD1B37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715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3501F31D-1E88-4D84-9E75-1A877058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219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C7A4997F-3226-4792-96D0-F4DCB29A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715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Quality gate</a:t>
            </a:r>
          </a:p>
        </p:txBody>
      </p:sp>
      <p:sp>
        <p:nvSpPr>
          <p:cNvPr id="27" name="process-rule">
            <a:extLst xmlns:a="http://schemas.openxmlformats.org/drawingml/2006/main">
              <a:ext uri="{FF2B5EF4-FFF2-40B4-BE49-F238E27FC236}">
                <a16:creationId xmlns:a16="http://schemas.microsoft.com/office/drawing/2014/main" id="{0D446837-743F-40DC-AF1C-D1FE39D9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01">
            <a:extLst xmlns:a="http://schemas.openxmlformats.org/drawingml/2006/main">
              <a:ext uri="{FF2B5EF4-FFF2-40B4-BE49-F238E27FC236}">
                <a16:creationId xmlns:a16="http://schemas.microsoft.com/office/drawing/2014/main" id="{A1BD9401-AD91-4156-B718-A10ABA3D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a34884eaa46d6"/>
          <a:srcRect xmlns:a="http://schemas.openxmlformats.org/drawingml/2006/main" l="0" t="15491" r="0" b="154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30" name="index-bg-01">
            <a:extLst xmlns:a="http://schemas.openxmlformats.org/drawingml/2006/main">
              <a:ext uri="{FF2B5EF4-FFF2-40B4-BE49-F238E27FC236}">
                <a16:creationId xmlns:a16="http://schemas.microsoft.com/office/drawing/2014/main" id="{7B166333-BAEB-4CE0-9B16-95938837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index-01">
            <a:extLst xmlns:a="http://schemas.openxmlformats.org/drawingml/2006/main">
              <a:ext uri="{FF2B5EF4-FFF2-40B4-BE49-F238E27FC236}">
                <a16:creationId xmlns:a16="http://schemas.microsoft.com/office/drawing/2014/main" id="{974D510A-7498-4F1F-81F0-92476AF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scene-01">
            <a:extLst xmlns:a="http://schemas.openxmlformats.org/drawingml/2006/main">
              <a:ext uri="{FF2B5EF4-FFF2-40B4-BE49-F238E27FC236}">
                <a16:creationId xmlns:a16="http://schemas.microsoft.com/office/drawing/2014/main" id="{E91C044F-6962-4DA6-BB6A-9C2AED8E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E1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E1126"/>
                </a:solidFill>
                <a:latin typeface="Arial"/>
                <a:ea typeface="Arial"/>
                <a:cs typeface="Arial"/>
              </a:rPr>
              <a:t>AIRPORT</a:t>
            </a:r>
          </a:p>
        </p:txBody>
      </p:sp>
      <p:sp>
        <p:nvSpPr>
          <p:cNvPr id="33" name="counts-01">
            <a:extLst xmlns:a="http://schemas.openxmlformats.org/drawingml/2006/main">
              <a:ext uri="{FF2B5EF4-FFF2-40B4-BE49-F238E27FC236}">
                <a16:creationId xmlns:a16="http://schemas.microsoft.com/office/drawing/2014/main" id="{73519C5A-47CB-4BCC-8944-7595819F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22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Cand. 5  ·  Rec. 1</a:t>
            </a:r>
          </a:p>
        </p:txBody>
      </p:sp>
      <p:sp>
        <p:nvSpPr>
          <p:cNvPr id="34" name="name-01">
            <a:extLst xmlns:a="http://schemas.openxmlformats.org/drawingml/2006/main">
              <a:ext uri="{FF2B5EF4-FFF2-40B4-BE49-F238E27FC236}">
                <a16:creationId xmlns:a16="http://schemas.microsoft.com/office/drawing/2014/main" id="{B7B16160-9413-4C1E-841C-288E9ED6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Accra International Airport</a:t>
            </a:r>
          </a:p>
        </p:txBody>
      </p:sp>
      <p:sp>
        <p:nvSpPr>
          <p:cNvPr id="35" name="metric-01">
            <a:extLst xmlns:a="http://schemas.openxmlformats.org/drawingml/2006/main">
              <a:ext uri="{FF2B5EF4-FFF2-40B4-BE49-F238E27FC236}">
                <a16:creationId xmlns:a16="http://schemas.microsoft.com/office/drawing/2014/main" id="{48BAB6C3-3428-4E58-A5B6-2744D330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8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E11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E1126"/>
                </a:solidFill>
                <a:latin typeface="Arial"/>
                <a:ea typeface="Arial"/>
                <a:cs typeface="Arial"/>
              </a:rPr>
              <a:t>3,211,751 passengers (2024)</a:t>
            </a:r>
          </a:p>
        </p:txBody>
      </p:sp>
      <p:sp>
        <p:nvSpPr>
          <p:cNvPr id="36" name="threshold-01">
            <a:extLst xmlns:a="http://schemas.openxmlformats.org/drawingml/2006/main">
              <a:ext uri="{FF2B5EF4-FFF2-40B4-BE49-F238E27FC236}">
                <a16:creationId xmlns:a16="http://schemas.microsoft.com/office/drawing/2014/main" id="{B3E280AD-15DA-4381-8D2A-B06F37A7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Threshold: annual passengers &gt; 2M</a:t>
            </a:r>
          </a:p>
        </p:txBody>
      </p:sp>
      <p:sp>
        <p:nvSpPr>
          <p:cNvPr id="37" name="status-bg-01">
            <a:extLst xmlns:a="http://schemas.openxmlformats.org/drawingml/2006/main">
              <a:ext uri="{FF2B5EF4-FFF2-40B4-BE49-F238E27FC236}">
                <a16:creationId xmlns:a16="http://schemas.microsoft.com/office/drawing/2014/main" id="{9299EF4C-1540-475F-9D59-9E54A14B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00475"/>
            <a:ext cx="1028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tus-01">
            <a:extLst xmlns:a="http://schemas.openxmlformats.org/drawingml/2006/main">
              <a:ext uri="{FF2B5EF4-FFF2-40B4-BE49-F238E27FC236}">
                <a16:creationId xmlns:a16="http://schemas.microsoft.com/office/drawing/2014/main" id="{CD972AEE-F522-4995-BB48-680DE30F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006B3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006B3F"/>
                </a:solidFill>
                <a:latin typeface="Arial"/>
                <a:ea typeface="Arial"/>
                <a:cs typeface="Arial"/>
              </a:rPr>
              <a:t>QUALIFIED</a:t>
            </a:r>
          </a:p>
        </p:txBody>
      </p:sp>
      <p:sp>
        <p:nvSpPr>
          <p:cNvPr id="39" name="card-02">
            <a:extLst xmlns:a="http://schemas.openxmlformats.org/drawingml/2006/main">
              <a:ext uri="{FF2B5EF4-FFF2-40B4-BE49-F238E27FC236}">
                <a16:creationId xmlns:a16="http://schemas.microsoft.com/office/drawing/2014/main" id="{F966DA2D-EE9D-4C64-8BCB-53EBBFA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3c73300fa4812"/>
          <a:srcRect xmlns:a="http://schemas.openxmlformats.org/drawingml/2006/main" l="0" t="20750" r="0" b="20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176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41" name="index-bg-02">
            <a:extLst xmlns:a="http://schemas.openxmlformats.org/drawingml/2006/main">
              <a:ext uri="{FF2B5EF4-FFF2-40B4-BE49-F238E27FC236}">
                <a16:creationId xmlns:a16="http://schemas.microsoft.com/office/drawing/2014/main" id="{28A53DD1-992A-46E8-9F1A-537C7381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index-02">
            <a:extLst xmlns:a="http://schemas.openxmlformats.org/drawingml/2006/main">
              <a:ext uri="{FF2B5EF4-FFF2-40B4-BE49-F238E27FC236}">
                <a16:creationId xmlns:a16="http://schemas.microsoft.com/office/drawing/2014/main" id="{5960CD69-FB39-4DBA-A261-AC8A4399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3" name="scene-02">
            <a:extLst xmlns:a="http://schemas.openxmlformats.org/drawingml/2006/main">
              <a:ext uri="{FF2B5EF4-FFF2-40B4-BE49-F238E27FC236}">
                <a16:creationId xmlns:a16="http://schemas.microsoft.com/office/drawing/2014/main" id="{534FB7DA-8487-4911-80F3-05481727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46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A9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A900"/>
                </a:solidFill>
                <a:latin typeface="Arial"/>
                <a:ea typeface="Arial"/>
                <a:cs typeface="Arial"/>
              </a:rPr>
              <a:t>TRANSPORT HUB</a:t>
            </a:r>
          </a:p>
        </p:txBody>
      </p:sp>
      <p:sp>
        <p:nvSpPr>
          <p:cNvPr id="44" name="counts-02">
            <a:extLst xmlns:a="http://schemas.openxmlformats.org/drawingml/2006/main">
              <a:ext uri="{FF2B5EF4-FFF2-40B4-BE49-F238E27FC236}">
                <a16:creationId xmlns:a16="http://schemas.microsoft.com/office/drawing/2014/main" id="{E1C9D6B5-8214-4B2B-B5A4-2C90EDEE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13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Cand. 1  ·  Rec. 0</a:t>
            </a:r>
          </a:p>
        </p:txBody>
      </p:sp>
      <p:sp>
        <p:nvSpPr>
          <p:cNvPr id="45" name="name-02">
            <a:extLst xmlns:a="http://schemas.openxmlformats.org/drawingml/2006/main">
              <a:ext uri="{FF2B5EF4-FFF2-40B4-BE49-F238E27FC236}">
                <a16:creationId xmlns:a16="http://schemas.microsoft.com/office/drawing/2014/main" id="{A5BA8716-8FB2-463B-8F57-790B22DE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Accra Central Station</a:t>
            </a:r>
          </a:p>
        </p:txBody>
      </p:sp>
      <p:sp>
        <p:nvSpPr>
          <p:cNvPr id="46" name="metric-02">
            <a:extLst xmlns:a="http://schemas.openxmlformats.org/drawingml/2006/main">
              <a:ext uri="{FF2B5EF4-FFF2-40B4-BE49-F238E27FC236}">
                <a16:creationId xmlns:a16="http://schemas.microsoft.com/office/drawing/2014/main" id="{1EF3C69E-9CAD-4133-8734-F462552C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A9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A900"/>
                </a:solidFill>
                <a:latin typeface="Arial"/>
                <a:ea typeface="Arial"/>
                <a:cs typeface="Arial"/>
              </a:rPr>
              <a:t>1 operating route</a:t>
            </a:r>
          </a:p>
        </p:txBody>
      </p:sp>
      <p:sp>
        <p:nvSpPr>
          <p:cNvPr id="47" name="threshold-02">
            <a:extLst xmlns:a="http://schemas.openxmlformats.org/drawingml/2006/main">
              <a:ext uri="{FF2B5EF4-FFF2-40B4-BE49-F238E27FC236}">
                <a16:creationId xmlns:a16="http://schemas.microsoft.com/office/drawing/2014/main" id="{12DD7CB0-F1EC-4C04-999B-F6DC35F2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Threshold: connected lines &gt; 1</a:t>
            </a:r>
          </a:p>
        </p:txBody>
      </p:sp>
      <p:sp>
        <p:nvSpPr>
          <p:cNvPr id="48" name="status-bg-02">
            <a:extLst xmlns:a="http://schemas.openxmlformats.org/drawingml/2006/main">
              <a:ext uri="{FF2B5EF4-FFF2-40B4-BE49-F238E27FC236}">
                <a16:creationId xmlns:a16="http://schemas.microsoft.com/office/drawing/2014/main" id="{38A3985A-5517-4E47-B85F-37371D19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3800475"/>
            <a:ext cx="1028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tatus-02">
            <a:extLst xmlns:a="http://schemas.openxmlformats.org/drawingml/2006/main">
              <a:ext uri="{FF2B5EF4-FFF2-40B4-BE49-F238E27FC236}">
                <a16:creationId xmlns:a16="http://schemas.microsoft.com/office/drawing/2014/main" id="{1502B539-FC14-4381-9C15-D8AC2336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110" y="38004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BELOW THRESHOLD</a:t>
            </a:r>
          </a:p>
        </p:txBody>
      </p:sp>
      <p:sp>
        <p:nvSpPr>
          <p:cNvPr id="50" name="card-03">
            <a:extLst xmlns:a="http://schemas.openxmlformats.org/drawingml/2006/main">
              <a:ext uri="{FF2B5EF4-FFF2-40B4-BE49-F238E27FC236}">
                <a16:creationId xmlns:a16="http://schemas.microsoft.com/office/drawing/2014/main" id="{41E5878D-60CA-422F-AB68-441FF7E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0bb9da8604fe2"/>
          <a:srcRect xmlns:a="http://schemas.openxmlformats.org/drawingml/2006/main" l="0" t="20838" r="0" b="20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967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52" name="index-bg-03">
            <a:extLst xmlns:a="http://schemas.openxmlformats.org/drawingml/2006/main">
              <a:ext uri="{FF2B5EF4-FFF2-40B4-BE49-F238E27FC236}">
                <a16:creationId xmlns:a16="http://schemas.microsoft.com/office/drawing/2014/main" id="{A0C80176-B6F1-4011-8F17-8AEFFBAD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index-03">
            <a:extLst xmlns:a="http://schemas.openxmlformats.org/drawingml/2006/main">
              <a:ext uri="{FF2B5EF4-FFF2-40B4-BE49-F238E27FC236}">
                <a16:creationId xmlns:a16="http://schemas.microsoft.com/office/drawing/2014/main" id="{BFC39581-55DE-4B66-B7C2-04CF73ED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4" name="scene-03">
            <a:extLst xmlns:a="http://schemas.openxmlformats.org/drawingml/2006/main">
              <a:ext uri="{FF2B5EF4-FFF2-40B4-BE49-F238E27FC236}">
                <a16:creationId xmlns:a16="http://schemas.microsoft.com/office/drawing/2014/main" id="{26D6BD0B-AE43-4C95-B336-FF1A2F3A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6B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6B3F"/>
                </a:solidFill>
                <a:latin typeface="Arial"/>
                <a:ea typeface="Arial"/>
                <a:cs typeface="Arial"/>
              </a:rPr>
              <a:t>CONVENTION</a:t>
            </a:r>
          </a:p>
        </p:txBody>
      </p:sp>
      <p:sp>
        <p:nvSpPr>
          <p:cNvPr id="55" name="counts-03">
            <a:extLst xmlns:a="http://schemas.openxmlformats.org/drawingml/2006/main">
              <a:ext uri="{FF2B5EF4-FFF2-40B4-BE49-F238E27FC236}">
                <a16:creationId xmlns:a16="http://schemas.microsoft.com/office/drawing/2014/main" id="{07BC7AE4-E203-439B-88C3-C6B883B7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04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Cand. 1  ·  Rec. 0</a:t>
            </a:r>
          </a:p>
        </p:txBody>
      </p:sp>
      <p:sp>
        <p:nvSpPr>
          <p:cNvPr id="56" name="name-03">
            <a:extLst xmlns:a="http://schemas.openxmlformats.org/drawingml/2006/main">
              <a:ext uri="{FF2B5EF4-FFF2-40B4-BE49-F238E27FC236}">
                <a16:creationId xmlns:a16="http://schemas.microsoft.com/office/drawing/2014/main" id="{F849BAF5-14B6-4FF5-A45F-5F39C770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Accra International Conference Centre</a:t>
            </a:r>
          </a:p>
        </p:txBody>
      </p:sp>
      <p:sp>
        <p:nvSpPr>
          <p:cNvPr id="57" name="metric-03">
            <a:extLst xmlns:a="http://schemas.openxmlformats.org/drawingml/2006/main">
              <a:ext uri="{FF2B5EF4-FFF2-40B4-BE49-F238E27FC236}">
                <a16:creationId xmlns:a16="http://schemas.microsoft.com/office/drawing/2014/main" id="{565F6722-F358-460C-878C-8B1A5C2C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4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B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B3F"/>
                </a:solidFill>
                <a:latin typeface="Arial"/>
                <a:ea typeface="Arial"/>
                <a:cs typeface="Arial"/>
              </a:rPr>
              <a:t>1,600-seat plenary (secondary)</a:t>
            </a:r>
          </a:p>
        </p:txBody>
      </p:sp>
      <p:sp>
        <p:nvSpPr>
          <p:cNvPr id="58" name="threshold-03">
            <a:extLst xmlns:a="http://schemas.openxmlformats.org/drawingml/2006/main">
              <a:ext uri="{FF2B5EF4-FFF2-40B4-BE49-F238E27FC236}">
                <a16:creationId xmlns:a16="http://schemas.microsoft.com/office/drawing/2014/main" id="{B11522B0-5BEC-4AFE-8F72-8F0312E7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Threshold: event area &gt; 25,000 m²</a:t>
            </a:r>
          </a:p>
        </p:txBody>
      </p:sp>
      <p:sp>
        <p:nvSpPr>
          <p:cNvPr id="59" name="status-bg-03">
            <a:extLst xmlns:a="http://schemas.openxmlformats.org/drawingml/2006/main">
              <a:ext uri="{FF2B5EF4-FFF2-40B4-BE49-F238E27FC236}">
                <a16:creationId xmlns:a16="http://schemas.microsoft.com/office/drawing/2014/main" id="{D320B767-53D0-41EB-A970-4C8AE1F4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00475"/>
            <a:ext cx="1409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tatus-03">
            <a:extLst xmlns:a="http://schemas.openxmlformats.org/drawingml/2006/main">
              <a:ext uri="{FF2B5EF4-FFF2-40B4-BE49-F238E27FC236}">
                <a16:creationId xmlns:a16="http://schemas.microsoft.com/office/drawing/2014/main" id="{A785267E-2ADD-417D-901B-738C4945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38004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8A650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8A6500"/>
                </a:solidFill>
                <a:latin typeface="Arial"/>
                <a:ea typeface="Arial"/>
                <a:cs typeface="Arial"/>
              </a:rPr>
              <a:t>PRIMARY METRIC MISSING</a:t>
            </a:r>
          </a:p>
        </p:txBody>
      </p:sp>
      <p:sp>
        <p:nvSpPr>
          <p:cNvPr id="61" name="card-04">
            <a:extLst xmlns:a="http://schemas.openxmlformats.org/drawingml/2006/main">
              <a:ext uri="{FF2B5EF4-FFF2-40B4-BE49-F238E27FC236}">
                <a16:creationId xmlns:a16="http://schemas.microsoft.com/office/drawing/2014/main" id="{DDCF11E6-93BC-4453-B348-41DA20C6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b4520a36f45b1"/>
          <a:srcRect xmlns:a="http://schemas.openxmlformats.org/drawingml/2006/main" l="0" t="20883" r="0" b="20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758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63" name="index-bg-04">
            <a:extLst xmlns:a="http://schemas.openxmlformats.org/drawingml/2006/main">
              <a:ext uri="{FF2B5EF4-FFF2-40B4-BE49-F238E27FC236}">
                <a16:creationId xmlns:a16="http://schemas.microsoft.com/office/drawing/2014/main" id="{89B4F84C-17FF-4DDA-8460-374E8EA5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index-04">
            <a:extLst xmlns:a="http://schemas.openxmlformats.org/drawingml/2006/main">
              <a:ext uri="{FF2B5EF4-FFF2-40B4-BE49-F238E27FC236}">
                <a16:creationId xmlns:a16="http://schemas.microsoft.com/office/drawing/2014/main" id="{12FF2F54-03BF-4F6A-ACFD-8094483B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5" name="scene-04">
            <a:extLst xmlns:a="http://schemas.openxmlformats.org/drawingml/2006/main">
              <a:ext uri="{FF2B5EF4-FFF2-40B4-BE49-F238E27FC236}">
                <a16:creationId xmlns:a16="http://schemas.microsoft.com/office/drawing/2014/main" id="{341391F8-2BDF-456B-BFA7-AA757FC4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MALL</a:t>
            </a:r>
          </a:p>
        </p:txBody>
      </p:sp>
      <p:sp>
        <p:nvSpPr>
          <p:cNvPr id="66" name="counts-04">
            <a:extLst xmlns:a="http://schemas.openxmlformats.org/drawingml/2006/main">
              <a:ext uri="{FF2B5EF4-FFF2-40B4-BE49-F238E27FC236}">
                <a16:creationId xmlns:a16="http://schemas.microsoft.com/office/drawing/2014/main" id="{5A1DFD38-1926-4870-9B66-6E752E27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95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Cand. 10  ·  Rec. 0</a:t>
            </a:r>
          </a:p>
        </p:txBody>
      </p:sp>
      <p:sp>
        <p:nvSpPr>
          <p:cNvPr id="67" name="name-04">
            <a:extLst xmlns:a="http://schemas.openxmlformats.org/drawingml/2006/main">
              <a:ext uri="{FF2B5EF4-FFF2-40B4-BE49-F238E27FC236}">
                <a16:creationId xmlns:a16="http://schemas.microsoft.com/office/drawing/2014/main" id="{79149D72-98FF-4E89-BD58-BFE5CD8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Kumasi City Mall</a:t>
            </a:r>
          </a:p>
        </p:txBody>
      </p:sp>
      <p:sp>
        <p:nvSpPr>
          <p:cNvPr id="68" name="metric-04">
            <a:extLst xmlns:a="http://schemas.openxmlformats.org/drawingml/2006/main">
              <a:ext uri="{FF2B5EF4-FFF2-40B4-BE49-F238E27FC236}">
                <a16:creationId xmlns:a16="http://schemas.microsoft.com/office/drawing/2014/main" id="{A5985224-2457-4013-84B1-214DCF2B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GLA 18,389 m²</a:t>
            </a:r>
          </a:p>
        </p:txBody>
      </p:sp>
      <p:sp>
        <p:nvSpPr>
          <p:cNvPr id="69" name="threshold-04">
            <a:extLst xmlns:a="http://schemas.openxmlformats.org/drawingml/2006/main">
              <a:ext uri="{FF2B5EF4-FFF2-40B4-BE49-F238E27FC236}">
                <a16:creationId xmlns:a16="http://schemas.microsoft.com/office/drawing/2014/main" id="{D804AF22-FF3D-4610-9A3D-0534CC50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Threshold: GLA &gt; 120,000 m²</a:t>
            </a:r>
          </a:p>
        </p:txBody>
      </p:sp>
      <p:sp>
        <p:nvSpPr>
          <p:cNvPr id="70" name="status-bg-04">
            <a:extLst xmlns:a="http://schemas.openxmlformats.org/drawingml/2006/main">
              <a:ext uri="{FF2B5EF4-FFF2-40B4-BE49-F238E27FC236}">
                <a16:creationId xmlns:a16="http://schemas.microsoft.com/office/drawing/2014/main" id="{4309CEF6-01E2-490D-8352-C9072010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3800475"/>
            <a:ext cx="1028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tatus-04">
            <a:extLst xmlns:a="http://schemas.openxmlformats.org/drawingml/2006/main">
              <a:ext uri="{FF2B5EF4-FFF2-40B4-BE49-F238E27FC236}">
                <a16:creationId xmlns:a16="http://schemas.microsoft.com/office/drawing/2014/main" id="{4CB23960-4A7F-4FB4-906D-CD446613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30" y="38004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BELOW THRESHOLD</a:t>
            </a:r>
          </a:p>
        </p:txBody>
      </p:sp>
      <p:sp>
        <p:nvSpPr>
          <p:cNvPr id="72" name="card-05">
            <a:extLst xmlns:a="http://schemas.openxmlformats.org/drawingml/2006/main">
              <a:ext uri="{FF2B5EF4-FFF2-40B4-BE49-F238E27FC236}">
                <a16:creationId xmlns:a16="http://schemas.microsoft.com/office/drawing/2014/main" id="{EFAC4F5C-B7DD-4D05-980E-AD151B61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3379cfe0845ca"/>
          <a:srcRect xmlns:a="http://schemas.openxmlformats.org/drawingml/2006/main" l="0" t="18018" r="0" b="180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549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74" name="index-bg-05">
            <a:extLst xmlns:a="http://schemas.openxmlformats.org/drawingml/2006/main">
              <a:ext uri="{FF2B5EF4-FFF2-40B4-BE49-F238E27FC236}">
                <a16:creationId xmlns:a16="http://schemas.microsoft.com/office/drawing/2014/main" id="{AC164A72-E1C6-4E32-A549-975877EC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index-05">
            <a:extLst xmlns:a="http://schemas.openxmlformats.org/drawingml/2006/main">
              <a:ext uri="{FF2B5EF4-FFF2-40B4-BE49-F238E27FC236}">
                <a16:creationId xmlns:a16="http://schemas.microsoft.com/office/drawing/2014/main" id="{2E260D1F-8AE6-4E15-97C2-F0B2265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6" name="scene-05">
            <a:extLst xmlns:a="http://schemas.openxmlformats.org/drawingml/2006/main">
              <a:ext uri="{FF2B5EF4-FFF2-40B4-BE49-F238E27FC236}">
                <a16:creationId xmlns:a16="http://schemas.microsoft.com/office/drawing/2014/main" id="{5DA3C6C6-2959-4EA7-BAAB-E3096034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E1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E1126"/>
                </a:solidFill>
                <a:latin typeface="Arial"/>
                <a:ea typeface="Arial"/>
                <a:cs typeface="Arial"/>
              </a:rPr>
              <a:t>STADIUM</a:t>
            </a:r>
          </a:p>
        </p:txBody>
      </p:sp>
      <p:sp>
        <p:nvSpPr>
          <p:cNvPr id="77" name="counts-05">
            <a:extLst xmlns:a="http://schemas.openxmlformats.org/drawingml/2006/main">
              <a:ext uri="{FF2B5EF4-FFF2-40B4-BE49-F238E27FC236}">
                <a16:creationId xmlns:a16="http://schemas.microsoft.com/office/drawing/2014/main" id="{4D68B1B1-F549-410A-A6EE-327D4545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86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Cand. 14  ·  Rec. 2</a:t>
            </a:r>
          </a:p>
        </p:txBody>
      </p:sp>
      <p:sp>
        <p:nvSpPr>
          <p:cNvPr id="78" name="name-05">
            <a:extLst xmlns:a="http://schemas.openxmlformats.org/drawingml/2006/main">
              <a:ext uri="{FF2B5EF4-FFF2-40B4-BE49-F238E27FC236}">
                <a16:creationId xmlns:a16="http://schemas.microsoft.com/office/drawing/2014/main" id="{B73693C4-B2A7-4DF9-8BCD-BA91093F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Accra Sports Stadium</a:t>
            </a:r>
          </a:p>
        </p:txBody>
      </p:sp>
      <p:sp>
        <p:nvSpPr>
          <p:cNvPr id="79" name="metric-05">
            <a:extLst xmlns:a="http://schemas.openxmlformats.org/drawingml/2006/main">
              <a:ext uri="{FF2B5EF4-FFF2-40B4-BE49-F238E27FC236}">
                <a16:creationId xmlns:a16="http://schemas.microsoft.com/office/drawing/2014/main" id="{43DFE192-5BAF-4FAC-836D-6FDD00D5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E11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E1126"/>
                </a:solidFill>
                <a:latin typeface="Arial"/>
                <a:ea typeface="Arial"/>
                <a:cs typeface="Arial"/>
              </a:rPr>
              <a:t>40,000 seats</a:t>
            </a:r>
          </a:p>
        </p:txBody>
      </p:sp>
      <p:sp>
        <p:nvSpPr>
          <p:cNvPr id="80" name="threshold-05">
            <a:extLst xmlns:a="http://schemas.openxmlformats.org/drawingml/2006/main">
              <a:ext uri="{FF2B5EF4-FFF2-40B4-BE49-F238E27FC236}">
                <a16:creationId xmlns:a16="http://schemas.microsoft.com/office/drawing/2014/main" id="{CE80E414-0FA7-431E-AB9B-FA3DA557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Threshold: seats &gt; 20,000</a:t>
            </a:r>
          </a:p>
        </p:txBody>
      </p:sp>
      <p:sp>
        <p:nvSpPr>
          <p:cNvPr id="81" name="status-bg-05">
            <a:extLst xmlns:a="http://schemas.openxmlformats.org/drawingml/2006/main">
              <a:ext uri="{FF2B5EF4-FFF2-40B4-BE49-F238E27FC236}">
                <a16:creationId xmlns:a16="http://schemas.microsoft.com/office/drawing/2014/main" id="{AC4B74E4-C2F5-4A39-BA20-8B3C837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3800475"/>
            <a:ext cx="1028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tatus-05">
            <a:extLst xmlns:a="http://schemas.openxmlformats.org/drawingml/2006/main">
              <a:ext uri="{FF2B5EF4-FFF2-40B4-BE49-F238E27FC236}">
                <a16:creationId xmlns:a16="http://schemas.microsoft.com/office/drawing/2014/main" id="{34D74DE8-AC2A-469D-BF59-2BDF7180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8004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006B3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006B3F"/>
                </a:solidFill>
                <a:latin typeface="Arial"/>
                <a:ea typeface="Arial"/>
                <a:cs typeface="Arial"/>
              </a:rPr>
              <a:t>QUALIFIED</a:t>
            </a:r>
          </a:p>
        </p:txBody>
      </p:sp>
      <p:sp>
        <p:nvSpPr>
          <p:cNvPr id="83" name="card-06">
            <a:extLst xmlns:a="http://schemas.openxmlformats.org/drawingml/2006/main">
              <a:ext uri="{FF2B5EF4-FFF2-40B4-BE49-F238E27FC236}">
                <a16:creationId xmlns:a16="http://schemas.microsoft.com/office/drawing/2014/main" id="{4F7600F1-A137-453F-AB95-5D2BAF7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52900"/>
            <a:ext cx="2814638" cy="23431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a7d6d237e4eb7"/>
          <a:srcRect xmlns:a="http://schemas.openxmlformats.org/drawingml/2006/main" l="0" t="20152" r="0" b="20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4152900"/>
            <a:ext cx="2814638" cy="933450"/>
          </a:xfrm>
          <a:prstGeom xmlns:a="http://schemas.openxmlformats.org/drawingml/2006/main" prst="rect">
            <a:avLst/>
          </a:prstGeom>
        </p:spPr>
      </p:pic>
      <p:sp>
        <p:nvSpPr>
          <p:cNvPr id="85" name="index-bg-06">
            <a:extLst xmlns:a="http://schemas.openxmlformats.org/drawingml/2006/main">
              <a:ext uri="{FF2B5EF4-FFF2-40B4-BE49-F238E27FC236}">
                <a16:creationId xmlns:a16="http://schemas.microsoft.com/office/drawing/2014/main" id="{F2B74D90-F9AA-46AC-A80B-53DD8200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index-06">
            <a:extLst xmlns:a="http://schemas.openxmlformats.org/drawingml/2006/main">
              <a:ext uri="{FF2B5EF4-FFF2-40B4-BE49-F238E27FC236}">
                <a16:creationId xmlns:a16="http://schemas.microsoft.com/office/drawing/2014/main" id="{A0EF8179-5C73-403E-BA8E-26DD4CD8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7" name="scene-06">
            <a:extLst xmlns:a="http://schemas.openxmlformats.org/drawingml/2006/main">
              <a:ext uri="{FF2B5EF4-FFF2-40B4-BE49-F238E27FC236}">
                <a16:creationId xmlns:a16="http://schemas.microsoft.com/office/drawing/2014/main" id="{964EAC7B-B601-4305-905B-8F3CFCCB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118086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A9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A900"/>
                </a:solidFill>
                <a:latin typeface="Arial"/>
                <a:ea typeface="Arial"/>
                <a:cs typeface="Arial"/>
              </a:rPr>
              <a:t>HOTEL</a:t>
            </a:r>
          </a:p>
        </p:txBody>
      </p:sp>
      <p:sp>
        <p:nvSpPr>
          <p:cNvPr id="88" name="counts-06">
            <a:extLst xmlns:a="http://schemas.openxmlformats.org/drawingml/2006/main">
              <a:ext uri="{FF2B5EF4-FFF2-40B4-BE49-F238E27FC236}">
                <a16:creationId xmlns:a16="http://schemas.microsoft.com/office/drawing/2014/main" id="{DB43164C-137D-4AF9-B561-F88B142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79" y="5143500"/>
            <a:ext cx="1495758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Cand. 15  ·  Rec. 0</a:t>
            </a:r>
          </a:p>
        </p:txBody>
      </p:sp>
      <p:sp>
        <p:nvSpPr>
          <p:cNvPr id="89" name="name-06">
            <a:extLst xmlns:a="http://schemas.openxmlformats.org/drawingml/2006/main">
              <a:ext uri="{FF2B5EF4-FFF2-40B4-BE49-F238E27FC236}">
                <a16:creationId xmlns:a16="http://schemas.microsoft.com/office/drawing/2014/main" id="{969CD6D7-1954-41F3-8B33-3FDB0EC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0"/>
            <a:ext cx="262413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Number One Oxford Street Hotel and Suites</a:t>
            </a:r>
          </a:p>
        </p:txBody>
      </p:sp>
      <p:sp>
        <p:nvSpPr>
          <p:cNvPr id="90" name="metric-06">
            <a:extLst xmlns:a="http://schemas.openxmlformats.org/drawingml/2006/main">
              <a:ext uri="{FF2B5EF4-FFF2-40B4-BE49-F238E27FC236}">
                <a16:creationId xmlns:a16="http://schemas.microsoft.com/office/drawing/2014/main" id="{7B366C12-B336-4DBD-BF15-08E302E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86425"/>
            <a:ext cx="26241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A9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A900"/>
                </a:solidFill>
                <a:latin typeface="Arial"/>
                <a:ea typeface="Arial"/>
                <a:cs typeface="Arial"/>
              </a:rPr>
              <a:t>108 rooms</a:t>
            </a:r>
          </a:p>
        </p:txBody>
      </p:sp>
      <p:sp>
        <p:nvSpPr>
          <p:cNvPr id="91" name="threshold-06">
            <a:extLst xmlns:a="http://schemas.openxmlformats.org/drawingml/2006/main">
              <a:ext uri="{FF2B5EF4-FFF2-40B4-BE49-F238E27FC236}">
                <a16:creationId xmlns:a16="http://schemas.microsoft.com/office/drawing/2014/main" id="{FA3ED646-5573-4D0E-B6AF-0E49822A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26241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Threshold: rooms &gt; 150</a:t>
            </a:r>
          </a:p>
        </p:txBody>
      </p:sp>
      <p:sp>
        <p:nvSpPr>
          <p:cNvPr id="92" name="status-bg-06">
            <a:extLst xmlns:a="http://schemas.openxmlformats.org/drawingml/2006/main">
              <a:ext uri="{FF2B5EF4-FFF2-40B4-BE49-F238E27FC236}">
                <a16:creationId xmlns:a16="http://schemas.microsoft.com/office/drawing/2014/main" id="{7CD47858-9378-41C3-83F0-2F31412D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7925"/>
            <a:ext cx="1028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status-06">
            <a:extLst xmlns:a="http://schemas.openxmlformats.org/drawingml/2006/main">
              <a:ext uri="{FF2B5EF4-FFF2-40B4-BE49-F238E27FC236}">
                <a16:creationId xmlns:a16="http://schemas.microsoft.com/office/drawing/2014/main" id="{A5DD35C0-2567-43CD-8E65-3328C8E8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BELOW THRESHOLD</a:t>
            </a:r>
          </a:p>
        </p:txBody>
      </p:sp>
      <p:sp>
        <p:nvSpPr>
          <p:cNvPr id="94" name="card-07">
            <a:extLst xmlns:a="http://schemas.openxmlformats.org/drawingml/2006/main">
              <a:ext uri="{FF2B5EF4-FFF2-40B4-BE49-F238E27FC236}">
                <a16:creationId xmlns:a16="http://schemas.microsoft.com/office/drawing/2014/main" id="{8BE5942D-B442-43A7-90EA-3DB3A6E2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4152900"/>
            <a:ext cx="2814638" cy="23431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3f3ebab8c4b6f"/>
          <a:srcRect xmlns:a="http://schemas.openxmlformats.org/drawingml/2006/main" l="0" t="25127" r="0" b="25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3738" y="4152900"/>
            <a:ext cx="2814638" cy="933450"/>
          </a:xfrm>
          <a:prstGeom xmlns:a="http://schemas.openxmlformats.org/drawingml/2006/main" prst="rect">
            <a:avLst/>
          </a:prstGeom>
        </p:spPr>
      </p:pic>
      <p:sp>
        <p:nvSpPr>
          <p:cNvPr id="96" name="index-bg-07">
            <a:extLst xmlns:a="http://schemas.openxmlformats.org/drawingml/2006/main">
              <a:ext uri="{FF2B5EF4-FFF2-40B4-BE49-F238E27FC236}">
                <a16:creationId xmlns:a16="http://schemas.microsoft.com/office/drawing/2014/main" id="{9524DD77-778E-4608-B331-8B01BDBA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index-07">
            <a:extLst xmlns:a="http://schemas.openxmlformats.org/drawingml/2006/main">
              <a:ext uri="{FF2B5EF4-FFF2-40B4-BE49-F238E27FC236}">
                <a16:creationId xmlns:a16="http://schemas.microsoft.com/office/drawing/2014/main" id="{6F212059-3E6C-428B-847E-4EC8158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8" name="scene-07">
            <a:extLst xmlns:a="http://schemas.openxmlformats.org/drawingml/2006/main">
              <a:ext uri="{FF2B5EF4-FFF2-40B4-BE49-F238E27FC236}">
                <a16:creationId xmlns:a16="http://schemas.microsoft.com/office/drawing/2014/main" id="{B3E09593-FEA1-4CBF-B83B-C999DBA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5143500"/>
            <a:ext cx="118086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6B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6B3F"/>
                </a:solidFill>
                <a:latin typeface="Arial"/>
                <a:ea typeface="Arial"/>
                <a:cs typeface="Arial"/>
              </a:rPr>
              <a:t>OFFICE</a:t>
            </a:r>
          </a:p>
        </p:txBody>
      </p:sp>
      <p:sp>
        <p:nvSpPr>
          <p:cNvPr id="99" name="counts-07">
            <a:extLst xmlns:a="http://schemas.openxmlformats.org/drawingml/2006/main">
              <a:ext uri="{FF2B5EF4-FFF2-40B4-BE49-F238E27FC236}">
                <a16:creationId xmlns:a16="http://schemas.microsoft.com/office/drawing/2014/main" id="{4105AF6E-C93F-4927-BDC0-AC0B90C6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367" y="5143500"/>
            <a:ext cx="1495758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Cand. 4  ·  Rec. 0</a:t>
            </a:r>
          </a:p>
        </p:txBody>
      </p:sp>
      <p:sp>
        <p:nvSpPr>
          <p:cNvPr id="100" name="name-07">
            <a:extLst xmlns:a="http://schemas.openxmlformats.org/drawingml/2006/main">
              <a:ext uri="{FF2B5EF4-FFF2-40B4-BE49-F238E27FC236}">
                <a16:creationId xmlns:a16="http://schemas.microsoft.com/office/drawing/2014/main" id="{4F244DF7-9413-4BD9-8AEB-872DCCA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5334000"/>
            <a:ext cx="262413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Octagon Accra</a:t>
            </a:r>
          </a:p>
        </p:txBody>
      </p:sp>
      <p:sp>
        <p:nvSpPr>
          <p:cNvPr id="101" name="metric-07">
            <a:extLst xmlns:a="http://schemas.openxmlformats.org/drawingml/2006/main">
              <a:ext uri="{FF2B5EF4-FFF2-40B4-BE49-F238E27FC236}">
                <a16:creationId xmlns:a16="http://schemas.microsoft.com/office/drawing/2014/main" id="{980196E5-BA84-4982-A948-31D2806F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5686425"/>
            <a:ext cx="26241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B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B3F"/>
                </a:solidFill>
                <a:latin typeface="Arial"/>
                <a:ea typeface="Arial"/>
                <a:cs typeface="Arial"/>
              </a:rPr>
              <a:t>GIA 75,000 m² (secondary)</a:t>
            </a:r>
          </a:p>
        </p:txBody>
      </p:sp>
      <p:sp>
        <p:nvSpPr>
          <p:cNvPr id="102" name="threshold-07">
            <a:extLst xmlns:a="http://schemas.openxmlformats.org/drawingml/2006/main">
              <a:ext uri="{FF2B5EF4-FFF2-40B4-BE49-F238E27FC236}">
                <a16:creationId xmlns:a16="http://schemas.microsoft.com/office/drawing/2014/main" id="{C47C0854-9CC0-40C9-9FAE-D1D8570E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5962650"/>
            <a:ext cx="26241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Threshold: building height &gt; 150 m</a:t>
            </a:r>
          </a:p>
        </p:txBody>
      </p:sp>
      <p:sp>
        <p:nvSpPr>
          <p:cNvPr id="103" name="status-bg-07">
            <a:extLst xmlns:a="http://schemas.openxmlformats.org/drawingml/2006/main">
              <a:ext uri="{FF2B5EF4-FFF2-40B4-BE49-F238E27FC236}">
                <a16:creationId xmlns:a16="http://schemas.microsoft.com/office/drawing/2014/main" id="{546E3288-3350-4CCF-B4FD-A8E58A64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6257925"/>
            <a:ext cx="1409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status-07">
            <a:extLst xmlns:a="http://schemas.openxmlformats.org/drawingml/2006/main">
              <a:ext uri="{FF2B5EF4-FFF2-40B4-BE49-F238E27FC236}">
                <a16:creationId xmlns:a16="http://schemas.microsoft.com/office/drawing/2014/main" id="{0B59E655-C41D-496A-BF99-4FE114E6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62579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8A650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8A6500"/>
                </a:solidFill>
                <a:latin typeface="Arial"/>
                <a:ea typeface="Arial"/>
                <a:cs typeface="Arial"/>
              </a:rPr>
              <a:t>PRIMARY METRIC MISSING</a:t>
            </a:r>
          </a:p>
        </p:txBody>
      </p:sp>
      <p:sp>
        <p:nvSpPr>
          <p:cNvPr id="105" name="card-08">
            <a:extLst xmlns:a="http://schemas.openxmlformats.org/drawingml/2006/main">
              <a:ext uri="{FF2B5EF4-FFF2-40B4-BE49-F238E27FC236}">
                <a16:creationId xmlns:a16="http://schemas.microsoft.com/office/drawing/2014/main" id="{D6483AD9-F61B-4E76-A6C5-CE013EF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52900"/>
            <a:ext cx="2814638" cy="23431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63c856ce148d7"/>
          <a:srcRect xmlns:a="http://schemas.openxmlformats.org/drawingml/2006/main" l="0" t="28409" r="0" b="284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4152900"/>
            <a:ext cx="2814638" cy="933450"/>
          </a:xfrm>
          <a:prstGeom xmlns:a="http://schemas.openxmlformats.org/drawingml/2006/main" prst="rect">
            <a:avLst/>
          </a:prstGeom>
        </p:spPr>
      </p:pic>
      <p:sp>
        <p:nvSpPr>
          <p:cNvPr id="107" name="index-bg-08">
            <a:extLst xmlns:a="http://schemas.openxmlformats.org/drawingml/2006/main">
              <a:ext uri="{FF2B5EF4-FFF2-40B4-BE49-F238E27FC236}">
                <a16:creationId xmlns:a16="http://schemas.microsoft.com/office/drawing/2014/main" id="{2131BBB0-DE8D-4373-B085-E21EE246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index-08">
            <a:extLst xmlns:a="http://schemas.openxmlformats.org/drawingml/2006/main">
              <a:ext uri="{FF2B5EF4-FFF2-40B4-BE49-F238E27FC236}">
                <a16:creationId xmlns:a16="http://schemas.microsoft.com/office/drawing/2014/main" id="{1D4F678F-55A7-497C-806F-60695BA6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09" name="scene-08">
            <a:extLst xmlns:a="http://schemas.openxmlformats.org/drawingml/2006/main">
              <a:ext uri="{FF2B5EF4-FFF2-40B4-BE49-F238E27FC236}">
                <a16:creationId xmlns:a16="http://schemas.microsoft.com/office/drawing/2014/main" id="{783A2E27-F827-4F7E-90EC-AE4312D2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3500"/>
            <a:ext cx="118086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HOSPITAL</a:t>
            </a:r>
          </a:p>
        </p:txBody>
      </p:sp>
      <p:sp>
        <p:nvSpPr>
          <p:cNvPr id="110" name="counts-08">
            <a:extLst xmlns:a="http://schemas.openxmlformats.org/drawingml/2006/main">
              <a:ext uri="{FF2B5EF4-FFF2-40B4-BE49-F238E27FC236}">
                <a16:creationId xmlns:a16="http://schemas.microsoft.com/office/drawing/2014/main" id="{A3A99669-BF51-41FC-BC70-53C8B4D7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254" y="5143500"/>
            <a:ext cx="1495758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Cand. 18  ·  Rec. 8</a:t>
            </a:r>
          </a:p>
        </p:txBody>
      </p:sp>
      <p:sp>
        <p:nvSpPr>
          <p:cNvPr id="111" name="name-08">
            <a:extLst xmlns:a="http://schemas.openxmlformats.org/drawingml/2006/main">
              <a:ext uri="{FF2B5EF4-FFF2-40B4-BE49-F238E27FC236}">
                <a16:creationId xmlns:a16="http://schemas.microsoft.com/office/drawing/2014/main" id="{AFEDFE82-7728-416B-ACC9-249ED7F0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34000"/>
            <a:ext cx="262413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Korle-Bu Teaching Hospital</a:t>
            </a:r>
          </a:p>
        </p:txBody>
      </p:sp>
      <p:sp>
        <p:nvSpPr>
          <p:cNvPr id="112" name="metric-08">
            <a:extLst xmlns:a="http://schemas.openxmlformats.org/drawingml/2006/main">
              <a:ext uri="{FF2B5EF4-FFF2-40B4-BE49-F238E27FC236}">
                <a16:creationId xmlns:a16="http://schemas.microsoft.com/office/drawing/2014/main" id="{58F512E3-32A5-452C-903F-313882A9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86425"/>
            <a:ext cx="26241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2,000+ beds</a:t>
            </a:r>
          </a:p>
        </p:txBody>
      </p:sp>
      <p:sp>
        <p:nvSpPr>
          <p:cNvPr id="113" name="threshold-08">
            <a:extLst xmlns:a="http://schemas.openxmlformats.org/drawingml/2006/main">
              <a:ext uri="{FF2B5EF4-FFF2-40B4-BE49-F238E27FC236}">
                <a16:creationId xmlns:a16="http://schemas.microsoft.com/office/drawing/2014/main" id="{B9063DAE-9849-40AD-B89F-871883F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962650"/>
            <a:ext cx="26241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Threshold: beds &gt; 450</a:t>
            </a:r>
          </a:p>
        </p:txBody>
      </p:sp>
      <p:sp>
        <p:nvSpPr>
          <p:cNvPr id="114" name="status-bg-08">
            <a:extLst xmlns:a="http://schemas.openxmlformats.org/drawingml/2006/main">
              <a:ext uri="{FF2B5EF4-FFF2-40B4-BE49-F238E27FC236}">
                <a16:creationId xmlns:a16="http://schemas.microsoft.com/office/drawing/2014/main" id="{72B1F05B-7D3C-43D4-BA30-EDD49258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57925"/>
            <a:ext cx="1028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status-08">
            <a:extLst xmlns:a="http://schemas.openxmlformats.org/drawingml/2006/main">
              <a:ext uri="{FF2B5EF4-FFF2-40B4-BE49-F238E27FC236}">
                <a16:creationId xmlns:a16="http://schemas.microsoft.com/office/drawing/2014/main" id="{02EC828D-17A0-4783-AC82-9474946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62579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006B3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006B3F"/>
                </a:solidFill>
                <a:latin typeface="Arial"/>
                <a:ea typeface="Arial"/>
                <a:cs typeface="Arial"/>
              </a:rPr>
              <a:t>QUALIFIED</a:t>
            </a:r>
          </a:p>
        </p:txBody>
      </p:sp>
      <p:sp>
        <p:nvSpPr>
          <p:cNvPr id="116" name="card-09">
            <a:extLst xmlns:a="http://schemas.openxmlformats.org/drawingml/2006/main">
              <a:ext uri="{FF2B5EF4-FFF2-40B4-BE49-F238E27FC236}">
                <a16:creationId xmlns:a16="http://schemas.microsoft.com/office/drawing/2014/main" id="{9DA7B5B6-3A20-4600-93CA-12E53DD7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152900"/>
            <a:ext cx="2814638" cy="23431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5cdcc3f5b4e4b"/>
          <a:srcRect xmlns:a="http://schemas.openxmlformats.org/drawingml/2006/main" l="0" t="25094" r="0" b="25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3513" y="4152900"/>
            <a:ext cx="2814638" cy="933450"/>
          </a:xfrm>
          <a:prstGeom xmlns:a="http://schemas.openxmlformats.org/drawingml/2006/main" prst="rect">
            <a:avLst/>
          </a:prstGeom>
        </p:spPr>
      </p:pic>
      <p:sp>
        <p:nvSpPr>
          <p:cNvPr id="118" name="index-bg-09">
            <a:extLst xmlns:a="http://schemas.openxmlformats.org/drawingml/2006/main">
              <a:ext uri="{FF2B5EF4-FFF2-40B4-BE49-F238E27FC236}">
                <a16:creationId xmlns:a16="http://schemas.microsoft.com/office/drawing/2014/main" id="{68EA08CD-2A48-43D0-9669-F3C966B1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index-09">
            <a:extLst xmlns:a="http://schemas.openxmlformats.org/drawingml/2006/main">
              <a:ext uri="{FF2B5EF4-FFF2-40B4-BE49-F238E27FC236}">
                <a16:creationId xmlns:a16="http://schemas.microsoft.com/office/drawing/2014/main" id="{4257070D-0ADE-40AE-AAA3-6809FE27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20" name="scene-09">
            <a:extLst xmlns:a="http://schemas.openxmlformats.org/drawingml/2006/main">
              <a:ext uri="{FF2B5EF4-FFF2-40B4-BE49-F238E27FC236}">
                <a16:creationId xmlns:a16="http://schemas.microsoft.com/office/drawing/2014/main" id="{EFCACC3F-B616-491B-AED0-B7A5C6A0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143500"/>
            <a:ext cx="118086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E11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E1126"/>
                </a:solidFill>
                <a:latin typeface="Arial"/>
                <a:ea typeface="Arial"/>
                <a:cs typeface="Arial"/>
              </a:rPr>
              <a:t>UNIVERSITY</a:t>
            </a:r>
          </a:p>
        </p:txBody>
      </p:sp>
      <p:sp>
        <p:nvSpPr>
          <p:cNvPr id="121" name="counts-09">
            <a:extLst xmlns:a="http://schemas.openxmlformats.org/drawingml/2006/main">
              <a:ext uri="{FF2B5EF4-FFF2-40B4-BE49-F238E27FC236}">
                <a16:creationId xmlns:a16="http://schemas.microsoft.com/office/drawing/2014/main" id="{A047E0D5-0B52-4C16-8D72-C08CE541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142" y="5143500"/>
            <a:ext cx="1495758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Cand. 13  ·  Rec. 4</a:t>
            </a:r>
          </a:p>
        </p:txBody>
      </p:sp>
      <p:sp>
        <p:nvSpPr>
          <p:cNvPr id="122" name="name-09">
            <a:extLst xmlns:a="http://schemas.openxmlformats.org/drawingml/2006/main">
              <a:ext uri="{FF2B5EF4-FFF2-40B4-BE49-F238E27FC236}">
                <a16:creationId xmlns:a16="http://schemas.microsoft.com/office/drawing/2014/main" id="{C213AAC1-0728-49E4-AA06-9641B61C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334000"/>
            <a:ext cx="262413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Kwame Nkrumah University of Science and Technology</a:t>
            </a:r>
          </a:p>
        </p:txBody>
      </p:sp>
      <p:sp>
        <p:nvSpPr>
          <p:cNvPr id="123" name="metric-09">
            <a:extLst xmlns:a="http://schemas.openxmlformats.org/drawingml/2006/main">
              <a:ext uri="{FF2B5EF4-FFF2-40B4-BE49-F238E27FC236}">
                <a16:creationId xmlns:a16="http://schemas.microsoft.com/office/drawing/2014/main" id="{48C65C72-FB3D-462E-9498-2D557DAD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686425"/>
            <a:ext cx="26241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6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E11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E1126"/>
                </a:solidFill>
                <a:latin typeface="Arial"/>
                <a:ea typeface="Arial"/>
                <a:cs typeface="Arial"/>
              </a:rPr>
              <a:t>Student population nearing 90,000</a:t>
            </a:r>
          </a:p>
        </p:txBody>
      </p:sp>
      <p:sp>
        <p:nvSpPr>
          <p:cNvPr id="124" name="threshold-09">
            <a:extLst xmlns:a="http://schemas.openxmlformats.org/drawingml/2006/main">
              <a:ext uri="{FF2B5EF4-FFF2-40B4-BE49-F238E27FC236}">
                <a16:creationId xmlns:a16="http://schemas.microsoft.com/office/drawing/2014/main" id="{1706A07D-158A-4755-A728-10B1CF63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962650"/>
            <a:ext cx="26241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Threshold: single-campus enrollment ≥ 20,000</a:t>
            </a:r>
          </a:p>
        </p:txBody>
      </p:sp>
      <p:sp>
        <p:nvSpPr>
          <p:cNvPr id="125" name="status-bg-09">
            <a:extLst xmlns:a="http://schemas.openxmlformats.org/drawingml/2006/main">
              <a:ext uri="{FF2B5EF4-FFF2-40B4-BE49-F238E27FC236}">
                <a16:creationId xmlns:a16="http://schemas.microsoft.com/office/drawing/2014/main" id="{3A047158-A93B-436F-BA8C-272D2737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6257925"/>
            <a:ext cx="1028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status-09">
            <a:extLst xmlns:a="http://schemas.openxmlformats.org/drawingml/2006/main">
              <a:ext uri="{FF2B5EF4-FFF2-40B4-BE49-F238E27FC236}">
                <a16:creationId xmlns:a16="http://schemas.microsoft.com/office/drawing/2014/main" id="{B3A2BEC5-ED28-4C10-98A5-3B935EA7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62579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006B3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006B3F"/>
                </a:solidFill>
                <a:latin typeface="Arial"/>
                <a:ea typeface="Arial"/>
                <a:cs typeface="Arial"/>
              </a:rPr>
              <a:t>QUALIFIED</a:t>
            </a:r>
          </a:p>
        </p:txBody>
      </p:sp>
      <p:sp>
        <p:nvSpPr>
          <p:cNvPr id="12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17C11D35-3C05-469F-BB2B-32A1D25A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91300"/>
            <a:ext cx="1154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Each scene card combines pool size, recommendations, threshold and a representative site. Convention and office values are secondary, not substitutes for area/height. Audited 2026-07-15.</a:t>
            </a:r>
          </a:p>
        </p:txBody>
      </p:sp>
    </p:spTree>
    <p:extLst>
      <p:ext uri="{BB962C8B-B14F-4D97-AF65-F5344CB8AC3E}">
        <p14:creationId xmlns:p14="http://schemas.microsoft.com/office/powerpoint/2010/main" val="1410174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2026-07-15T06:50:35.4470000Z</dcterms:created>
  <dcterms:modified xsi:type="dcterms:W3CDTF">2026-07-15T06:50:35.4470000Z</dcterms:modified>
</coreProperties>
</file>